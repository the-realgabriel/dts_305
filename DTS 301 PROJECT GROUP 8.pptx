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8"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9144000" cy="2933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0" y="2925286"/>
            <a:ext cx="9144000" cy="158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514600" y="236220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3" name="Subtitle 2"/>
          <p:cNvSpPr>
            <a:spLocks noGrp="1"/>
          </p:cNvSpPr>
          <p:nvPr>
            <p:ph type="subTitle" idx="1"/>
          </p:nvPr>
        </p:nvSpPr>
        <p:spPr>
          <a:xfrm>
            <a:off x="2565400" y="3045460"/>
            <a:ext cx="4013200" cy="428625"/>
          </a:xfrm>
        </p:spPr>
        <p:txBody>
          <a:bodyPr tIns="0" anchor="t">
            <a:noAutofit/>
          </a:bodyPr>
          <a:lstStyle>
            <a:lvl1pPr marL="0" indent="0" algn="ctr">
              <a:buNone/>
              <a:defRPr sz="1600" b="0" i="0" cap="none" spc="0" baseline="0">
                <a:solidFill>
                  <a:schemeClr val="bg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2" name="Title 11"/>
          <p:cNvSpPr>
            <a:spLocks noGrp="1"/>
          </p:cNvSpPr>
          <p:nvPr>
            <p:ph type="title"/>
          </p:nvPr>
        </p:nvSpPr>
        <p:spPr>
          <a:xfrm>
            <a:off x="2565400" y="2397760"/>
            <a:ext cx="4013200" cy="599440"/>
          </a:xfrm>
          <a:noFill/>
          <a:ln>
            <a:noFill/>
          </a:ln>
        </p:spPr>
        <p:txBody>
          <a:bodyPr bIns="0" anchor="b"/>
          <a:lstStyle>
            <a:lvl1pPr>
              <a:defRPr>
                <a:effectLst>
                  <a:glow rad="88900">
                    <a:schemeClr val="tx1">
                      <a:alpha val="60000"/>
                    </a:schemeClr>
                  </a:glow>
                </a:effectLst>
              </a:defRPr>
            </a:lvl1pPr>
          </a:lstStyle>
          <a:p>
            <a:r>
              <a:rPr lang="en-US" smtClean="0"/>
              <a:t>Click to edit Master title style</a:t>
            </a:r>
            <a:endParaRPr lang="en-US" dirty="0"/>
          </a:p>
        </p:txBody>
      </p:sp>
      <p:sp>
        <p:nvSpPr>
          <p:cNvPr id="11" name="Date Placeholder 10"/>
          <p:cNvSpPr>
            <a:spLocks noGrp="1"/>
          </p:cNvSpPr>
          <p:nvPr>
            <p:ph type="dt" sz="half" idx="10"/>
          </p:nvPr>
        </p:nvSpPr>
        <p:spPr bwMode="black"/>
        <p:txBody>
          <a:bodyPr/>
          <a:lstStyle/>
          <a:p>
            <a:fld id="{DAFDFEC5-1EE0-43B3-8154-66363A5F72B4}" type="datetimeFigureOut">
              <a:rPr lang="en-US" smtClean="0"/>
              <a:t>12/10/2025</a:t>
            </a:fld>
            <a:endParaRPr lang="en-US"/>
          </a:p>
        </p:txBody>
      </p:sp>
      <p:sp>
        <p:nvSpPr>
          <p:cNvPr id="17" name="Slide Number Placeholder 16"/>
          <p:cNvSpPr>
            <a:spLocks noGrp="1"/>
          </p:cNvSpPr>
          <p:nvPr>
            <p:ph type="sldNum" sz="quarter" idx="11"/>
          </p:nvPr>
        </p:nvSpPr>
        <p:spPr/>
        <p:txBody>
          <a:bodyPr/>
          <a:lstStyle/>
          <a:p>
            <a:fld id="{DA7E9C4D-62F9-4797-A2AF-6A52B8F4AFC0}" type="slidenum">
              <a:rPr lang="en-US" smtClean="0"/>
              <a:t>‹#›</a:t>
            </a:fld>
            <a:endParaRPr lang="en-US"/>
          </a:p>
        </p:txBody>
      </p:sp>
      <p:sp>
        <p:nvSpPr>
          <p:cNvPr id="19" name="Footer Placeholder 1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1" name="Content Placeholder 30"/>
          <p:cNvSpPr>
            <a:spLocks noGrp="1"/>
          </p:cNvSpPr>
          <p:nvPr>
            <p:ph sz="quarter" idx="13"/>
          </p:nvPr>
        </p:nvSpPr>
        <p:spPr>
          <a:xfrm>
            <a:off x="457200" y="2020824"/>
            <a:ext cx="8229600" cy="407517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
        <p:nvSpPr>
          <p:cNvPr id="11" name="Date Placeholder 10"/>
          <p:cNvSpPr>
            <a:spLocks noGrp="1"/>
          </p:cNvSpPr>
          <p:nvPr>
            <p:ph type="dt" sz="half" idx="14"/>
          </p:nvPr>
        </p:nvSpPr>
        <p:spPr/>
        <p:txBody>
          <a:bodyPr/>
          <a:lstStyle/>
          <a:p>
            <a:fld id="{DAFDFEC5-1EE0-43B3-8154-66363A5F72B4}" type="datetimeFigureOut">
              <a:rPr lang="en-US" smtClean="0"/>
              <a:t>12/10/2025</a:t>
            </a:fld>
            <a:endParaRPr lang="en-US"/>
          </a:p>
        </p:txBody>
      </p:sp>
      <p:sp>
        <p:nvSpPr>
          <p:cNvPr id="12" name="Slide Number Placeholder 11"/>
          <p:cNvSpPr>
            <a:spLocks noGrp="1"/>
          </p:cNvSpPr>
          <p:nvPr>
            <p:ph type="sldNum" sz="quarter" idx="15"/>
          </p:nvPr>
        </p:nvSpPr>
        <p:spPr/>
        <p:txBody>
          <a:bodyPr/>
          <a:lstStyle/>
          <a:p>
            <a:fld id="{DA7E9C4D-62F9-4797-A2AF-6A52B8F4AFC0}" type="slidenum">
              <a:rPr lang="en-US" smtClean="0"/>
              <a:t>‹#›</a:t>
            </a:fld>
            <a:endParaRPr lang="en-US"/>
          </a:p>
        </p:txBody>
      </p:sp>
      <p:sp>
        <p:nvSpPr>
          <p:cNvPr id="13" name="Footer Placeholder 12"/>
          <p:cNvSpPr>
            <a:spLocks noGrp="1"/>
          </p:cNvSpPr>
          <p:nvPr>
            <p:ph type="ftr" sz="quarter" idx="16"/>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8" name="Rectangle 7"/>
          <p:cNvSpPr/>
          <p:nvPr/>
        </p:nvSpPr>
        <p:spPr>
          <a:xfrm>
            <a:off x="0" y="3922776"/>
            <a:ext cx="9144000" cy="2935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0" y="3921760"/>
            <a:ext cx="9144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514600" y="3368040"/>
            <a:ext cx="4114800" cy="112776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pPr algn="ctr" defTabSz="914400" rtl="0" eaLnBrk="1" latinLnBrk="0" hangingPunct="1">
              <a:spcBef>
                <a:spcPts val="400"/>
              </a:spcBef>
              <a:buNone/>
            </a:pPr>
            <a:endParaRPr lang="en-US" sz="1800" b="1" kern="1200" cap="all" spc="0" baseline="0" smtClean="0">
              <a:solidFill>
                <a:schemeClr val="bg1"/>
              </a:solidFill>
              <a:latin typeface="+mj-lt"/>
              <a:ea typeface="+mj-ea"/>
              <a:cs typeface="Tunga" pitchFamily="2"/>
            </a:endParaRPr>
          </a:p>
        </p:txBody>
      </p:sp>
      <p:sp>
        <p:nvSpPr>
          <p:cNvPr id="9" name="Title Placeholder 1"/>
          <p:cNvSpPr>
            <a:spLocks noGrp="1"/>
          </p:cNvSpPr>
          <p:nvPr>
            <p:ph type="title"/>
          </p:nvPr>
        </p:nvSpPr>
        <p:spPr bwMode="black">
          <a:xfrm>
            <a:off x="2529052" y="3367246"/>
            <a:ext cx="4085897" cy="706821"/>
          </a:xfrm>
          <a:prstGeom prst="rect">
            <a:avLst/>
          </a:prstGeom>
          <a:noFill/>
          <a:ln w="98425" cmpd="thinThick">
            <a:noFill/>
            <a:miter lim="800000"/>
          </a:ln>
        </p:spPr>
        <p:txBody>
          <a:bodyPr vert="horz" lIns="91440" tIns="45720" rIns="91440" bIns="0" rtlCol="0" anchor="b" anchorCtr="0">
            <a:normAutofit/>
          </a:bodyPr>
          <a:lstStyle>
            <a:lvl1pPr>
              <a:defRPr kumimoji="0" lang="en-US" sz="1800" b="1" i="0" u="none" strike="noStrike" kern="1200" cap="all" spc="0" normalizeH="0" baseline="0" noProof="0" dirty="0" smtClean="0">
                <a:ln>
                  <a:noFill/>
                </a:ln>
                <a:solidFill>
                  <a:schemeClr val="bg1"/>
                </a:solidFill>
                <a:effectLst/>
                <a:uLnTx/>
                <a:uFillTx/>
                <a:latin typeface="+mj-lt"/>
                <a:ea typeface="+mj-ea"/>
                <a:cs typeface="Tunga" pitchFamily="2"/>
              </a:defRPr>
            </a:lvl1pPr>
          </a:lstStyle>
          <a:p>
            <a:r>
              <a:rPr lang="en-US" smtClean="0"/>
              <a:t>Click to edit Master title style</a:t>
            </a:r>
            <a:endParaRPr lang="en-US" dirty="0"/>
          </a:p>
        </p:txBody>
      </p:sp>
      <p:sp>
        <p:nvSpPr>
          <p:cNvPr id="10" name="Subtitle 2"/>
          <p:cNvSpPr>
            <a:spLocks noGrp="1"/>
          </p:cNvSpPr>
          <p:nvPr>
            <p:ph type="subTitle" idx="1"/>
          </p:nvPr>
        </p:nvSpPr>
        <p:spPr bwMode="black">
          <a:xfrm>
            <a:off x="2518542" y="4084577"/>
            <a:ext cx="4106917" cy="397094"/>
          </a:xfrm>
        </p:spPr>
        <p:txBody>
          <a:bodyPr tIns="0" anchor="t" anchorCtr="0">
            <a:normAutofit/>
          </a:bodyPr>
          <a:lstStyle>
            <a:lvl1pPr marL="0" indent="0" algn="ctr">
              <a:buNone/>
              <a:defRPr kumimoji="0" lang="en-US" sz="1600" b="0" i="0" u="none" strike="noStrike" kern="1200" cap="none" spc="0" normalizeH="0" baseline="0" noProof="0" dirty="0">
                <a:ln>
                  <a:noFill/>
                </a:ln>
                <a:solidFill>
                  <a:schemeClr val="bg1"/>
                </a:solidFill>
                <a:effectLst/>
                <a:uLnTx/>
                <a:uFillTx/>
                <a:latin typeface="+mn-lt"/>
                <a:ea typeface="+mn-ea"/>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3" name="Date Placeholder 12"/>
          <p:cNvSpPr>
            <a:spLocks noGrp="1"/>
          </p:cNvSpPr>
          <p:nvPr>
            <p:ph type="dt" sz="half" idx="10"/>
          </p:nvPr>
        </p:nvSpPr>
        <p:spPr/>
        <p:txBody>
          <a:bodyPr/>
          <a:lstStyle/>
          <a:p>
            <a:fld id="{DAFDFEC5-1EE0-43B3-8154-66363A5F72B4}" type="datetimeFigureOut">
              <a:rPr lang="en-US" smtClean="0"/>
              <a:t>12/10/2025</a:t>
            </a:fld>
            <a:endParaRPr lang="en-US"/>
          </a:p>
        </p:txBody>
      </p:sp>
      <p:sp>
        <p:nvSpPr>
          <p:cNvPr id="14" name="Slide Number Placeholder 13"/>
          <p:cNvSpPr>
            <a:spLocks noGrp="1"/>
          </p:cNvSpPr>
          <p:nvPr>
            <p:ph type="sldNum" sz="quarter" idx="11"/>
          </p:nvPr>
        </p:nvSpPr>
        <p:spPr/>
        <p:txBody>
          <a:bodyPr/>
          <a:lstStyle/>
          <a:p>
            <a:fld id="{DA7E9C4D-62F9-4797-A2AF-6A52B8F4AFC0}"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Content Placeholder 30"/>
          <p:cNvSpPr>
            <a:spLocks noGrp="1"/>
          </p:cNvSpPr>
          <p:nvPr>
            <p:ph sz="quarter" idx="13"/>
          </p:nvPr>
        </p:nvSpPr>
        <p:spPr>
          <a:xfrm>
            <a:off x="457201"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0"/>
          <p:cNvSpPr>
            <a:spLocks noGrp="1"/>
          </p:cNvSpPr>
          <p:nvPr>
            <p:ph sz="quarter" idx="14"/>
          </p:nvPr>
        </p:nvSpPr>
        <p:spPr>
          <a:xfrm>
            <a:off x="4663440" y="2020824"/>
            <a:ext cx="4023360" cy="40050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p:cNvSpPr>
            <a:spLocks noGrp="1"/>
          </p:cNvSpPr>
          <p:nvPr>
            <p:ph type="dt" sz="half" idx="15"/>
          </p:nvPr>
        </p:nvSpPr>
        <p:spPr/>
        <p:txBody>
          <a:bodyPr/>
          <a:lstStyle/>
          <a:p>
            <a:fld id="{DAFDFEC5-1EE0-43B3-8154-66363A5F72B4}" type="datetimeFigureOut">
              <a:rPr lang="en-US" smtClean="0"/>
              <a:t>12/10/2025</a:t>
            </a:fld>
            <a:endParaRPr lang="en-US"/>
          </a:p>
        </p:txBody>
      </p:sp>
      <p:sp>
        <p:nvSpPr>
          <p:cNvPr id="12" name="Slide Number Placeholder 11"/>
          <p:cNvSpPr>
            <a:spLocks noGrp="1"/>
          </p:cNvSpPr>
          <p:nvPr>
            <p:ph type="sldNum" sz="quarter" idx="16"/>
          </p:nvPr>
        </p:nvSpPr>
        <p:spPr/>
        <p:txBody>
          <a:bodyPr/>
          <a:lstStyle/>
          <a:p>
            <a:fld id="{DA7E9C4D-62F9-4797-A2AF-6A52B8F4AFC0}" type="slidenum">
              <a:rPr lang="en-US" smtClean="0"/>
              <a:t>‹#›</a:t>
            </a:fld>
            <a:endParaRPr lang="en-US"/>
          </a:p>
        </p:txBody>
      </p:sp>
      <p:sp>
        <p:nvSpPr>
          <p:cNvPr id="13" name="Footer Placeholder 12"/>
          <p:cNvSpPr>
            <a:spLocks noGrp="1"/>
          </p:cNvSpPr>
          <p:nvPr>
            <p:ph type="ftr" sz="quarter" idx="17"/>
          </p:nvPr>
        </p:nvSpPr>
        <p:spPr/>
        <p:txBody>
          <a:bodyPr/>
          <a:lstStyle/>
          <a:p>
            <a:endParaRPr lang="en-US"/>
          </a:p>
        </p:txBody>
      </p:sp>
      <p:sp>
        <p:nvSpPr>
          <p:cNvPr id="16" name="Title 1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3" name="Content Placeholder 30"/>
          <p:cNvSpPr>
            <a:spLocks noGrp="1"/>
          </p:cNvSpPr>
          <p:nvPr>
            <p:ph sz="quarter" idx="13"/>
          </p:nvPr>
        </p:nvSpPr>
        <p:spPr>
          <a:xfrm>
            <a:off x="457201" y="2819400"/>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4" name="Content Placeholder 30"/>
          <p:cNvSpPr>
            <a:spLocks noGrp="1"/>
          </p:cNvSpPr>
          <p:nvPr>
            <p:ph sz="quarter" idx="14"/>
          </p:nvPr>
        </p:nvSpPr>
        <p:spPr>
          <a:xfrm>
            <a:off x="4663440" y="2816352"/>
            <a:ext cx="4023360" cy="320954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0" name="Text Placeholder 3"/>
          <p:cNvSpPr>
            <a:spLocks noGrp="1"/>
          </p:cNvSpPr>
          <p:nvPr>
            <p:ph type="body" sz="half" idx="2"/>
          </p:nvPr>
        </p:nvSpPr>
        <p:spPr>
          <a:xfrm>
            <a:off x="45720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kern="1200" cap="none" spc="200" baseline="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1" name="Text Placeholder 3"/>
          <p:cNvSpPr>
            <a:spLocks noGrp="1"/>
          </p:cNvSpPr>
          <p:nvPr>
            <p:ph type="body" sz="half" idx="15"/>
          </p:nvPr>
        </p:nvSpPr>
        <p:spPr>
          <a:xfrm>
            <a:off x="4663440" y="2020824"/>
            <a:ext cx="4023360" cy="704088"/>
          </a:xfrm>
          <a:noFill/>
          <a:ln w="98425" cmpd="thinThick">
            <a:no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1" i="0" kern="1200" cap="none" spc="200" baseline="0" dirty="0" smtClean="0">
                <a:solidFill>
                  <a:schemeClr val="tx1"/>
                </a:solidFill>
                <a:latin typeface="+mj-lt"/>
                <a:ea typeface="+mj-ea"/>
                <a:cs typeface="Tunga" pitchFamily="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ctr" defTabSz="914400" rtl="0" eaLnBrk="1" latinLnBrk="0" hangingPunct="1">
              <a:lnSpc>
                <a:spcPct val="110000"/>
              </a:lnSpc>
              <a:spcBef>
                <a:spcPts val="400"/>
              </a:spcBef>
              <a:spcAft>
                <a:spcPts val="0"/>
              </a:spcAft>
              <a:buClr>
                <a:schemeClr val="accent1"/>
              </a:buClr>
              <a:buFontTx/>
              <a:buNone/>
            </a:pPr>
            <a:r>
              <a:rPr lang="en-US" smtClean="0"/>
              <a:t>Click to edit Master text styles</a:t>
            </a:r>
          </a:p>
        </p:txBody>
      </p:sp>
      <p:sp>
        <p:nvSpPr>
          <p:cNvPr id="11" name="Date Placeholder 10"/>
          <p:cNvSpPr>
            <a:spLocks noGrp="1"/>
          </p:cNvSpPr>
          <p:nvPr>
            <p:ph type="dt" sz="half" idx="16"/>
          </p:nvPr>
        </p:nvSpPr>
        <p:spPr/>
        <p:txBody>
          <a:bodyPr/>
          <a:lstStyle/>
          <a:p>
            <a:fld id="{DAFDFEC5-1EE0-43B3-8154-66363A5F72B4}" type="datetimeFigureOut">
              <a:rPr lang="en-US" smtClean="0"/>
              <a:t>12/10/2025</a:t>
            </a:fld>
            <a:endParaRPr lang="en-US"/>
          </a:p>
        </p:txBody>
      </p:sp>
      <p:sp>
        <p:nvSpPr>
          <p:cNvPr id="12" name="Slide Number Placeholder 11"/>
          <p:cNvSpPr>
            <a:spLocks noGrp="1"/>
          </p:cNvSpPr>
          <p:nvPr>
            <p:ph type="sldNum" sz="quarter" idx="17"/>
          </p:nvPr>
        </p:nvSpPr>
        <p:spPr/>
        <p:txBody>
          <a:bodyPr/>
          <a:lstStyle/>
          <a:p>
            <a:fld id="{DA7E9C4D-62F9-4797-A2AF-6A52B8F4AFC0}" type="slidenum">
              <a:rPr lang="en-US" smtClean="0"/>
              <a:t>‹#›</a:t>
            </a:fld>
            <a:endParaRPr lang="en-US"/>
          </a:p>
        </p:txBody>
      </p:sp>
      <p:sp>
        <p:nvSpPr>
          <p:cNvPr id="13" name="Footer Placeholder 12"/>
          <p:cNvSpPr>
            <a:spLocks noGrp="1"/>
          </p:cNvSpPr>
          <p:nvPr>
            <p:ph type="ftr" sz="quarter" idx="18"/>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smtClean="0"/>
              <a:t>Click to edit Master title style</a:t>
            </a:r>
            <a:endParaRPr lang="en-US"/>
          </a:p>
        </p:txBody>
      </p:sp>
      <p:sp>
        <p:nvSpPr>
          <p:cNvPr id="15" name="Date Placeholder 14"/>
          <p:cNvSpPr>
            <a:spLocks noGrp="1"/>
          </p:cNvSpPr>
          <p:nvPr>
            <p:ph type="dt" sz="half" idx="10"/>
          </p:nvPr>
        </p:nvSpPr>
        <p:spPr/>
        <p:txBody>
          <a:bodyPr/>
          <a:lstStyle/>
          <a:p>
            <a:fld id="{DAFDFEC5-1EE0-43B3-8154-66363A5F72B4}" type="datetimeFigureOut">
              <a:rPr lang="en-US" smtClean="0"/>
              <a:t>12/10/2025</a:t>
            </a:fld>
            <a:endParaRPr lang="en-US"/>
          </a:p>
        </p:txBody>
      </p:sp>
      <p:sp>
        <p:nvSpPr>
          <p:cNvPr id="16" name="Slide Number Placeholder 15"/>
          <p:cNvSpPr>
            <a:spLocks noGrp="1"/>
          </p:cNvSpPr>
          <p:nvPr>
            <p:ph type="sldNum" sz="quarter" idx="11"/>
          </p:nvPr>
        </p:nvSpPr>
        <p:spPr/>
        <p:txBody>
          <a:bodyPr/>
          <a:lstStyle/>
          <a:p>
            <a:fld id="{DA7E9C4D-62F9-4797-A2AF-6A52B8F4AFC0}"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DAFDFEC5-1EE0-43B3-8154-66363A5F72B4}" type="datetimeFigureOut">
              <a:rPr lang="en-US" smtClean="0"/>
              <a:t>12/10/2025</a:t>
            </a:fld>
            <a:endParaRPr lang="en-US"/>
          </a:p>
        </p:txBody>
      </p:sp>
      <p:sp>
        <p:nvSpPr>
          <p:cNvPr id="8" name="Slide Number Placeholder 7"/>
          <p:cNvSpPr>
            <a:spLocks noGrp="1"/>
          </p:cNvSpPr>
          <p:nvPr>
            <p:ph type="sldNum" sz="quarter" idx="11"/>
          </p:nvPr>
        </p:nvSpPr>
        <p:spPr/>
        <p:txBody>
          <a:bodyPr/>
          <a:lstStyle/>
          <a:p>
            <a:fld id="{DA7E9C4D-62F9-4797-A2AF-6A52B8F4AFC0}"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Content Placeholder 30"/>
          <p:cNvSpPr>
            <a:spLocks noGrp="1"/>
          </p:cNvSpPr>
          <p:nvPr>
            <p:ph sz="quarter" idx="14"/>
          </p:nvPr>
        </p:nvSpPr>
        <p:spPr>
          <a:xfrm>
            <a:off x="1485900" y="1914525"/>
            <a:ext cx="6172200" cy="35109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Text Placeholder 3"/>
          <p:cNvSpPr>
            <a:spLocks noGrp="1"/>
          </p:cNvSpPr>
          <p:nvPr>
            <p:ph type="body" sz="half" idx="2"/>
          </p:nvPr>
        </p:nvSpPr>
        <p:spPr>
          <a:xfrm>
            <a:off x="1737360" y="5513832"/>
            <a:ext cx="5669280" cy="548640"/>
          </a:xfrm>
        </p:spPr>
        <p:txBody>
          <a:bodyPr vert="horz" lIns="91440" tIns="0" rIns="91440" bIns="45720" rtlCol="0" anchor="ctr">
            <a:normAutofit/>
          </a:bodyPr>
          <a:lstStyle>
            <a:lvl1pPr marL="0" indent="0" algn="ctr" defTabSz="914400" rtl="0" eaLnBrk="1" latinLnBrk="0" hangingPunct="1">
              <a:lnSpc>
                <a:spcPct val="100000"/>
              </a:lnSpc>
              <a:spcBef>
                <a:spcPts val="0"/>
              </a:spcBef>
              <a:buClr>
                <a:schemeClr val="accent1"/>
              </a:buClr>
              <a:buFont typeface="Arial" pitchFamily="34" charset="0"/>
              <a:buNone/>
              <a:defRPr lang="en-US" sz="1400" b="0" i="0" kern="1200" cap="none" spc="0" baseline="0" smtClean="0">
                <a:solidFill>
                  <a:schemeClr val="tx1"/>
                </a:solidFill>
                <a:latin typeface="+mn-lt"/>
                <a:ea typeface="+mn-ea"/>
                <a:cs typeface="Tahom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6" name="Date Placeholder 15"/>
          <p:cNvSpPr>
            <a:spLocks noGrp="1"/>
          </p:cNvSpPr>
          <p:nvPr>
            <p:ph type="dt" sz="half" idx="15"/>
          </p:nvPr>
        </p:nvSpPr>
        <p:spPr/>
        <p:txBody>
          <a:bodyPr/>
          <a:lstStyle/>
          <a:p>
            <a:fld id="{DAFDFEC5-1EE0-43B3-8154-66363A5F72B4}" type="datetimeFigureOut">
              <a:rPr lang="en-US" smtClean="0"/>
              <a:t>12/10/2025</a:t>
            </a:fld>
            <a:endParaRPr lang="en-US"/>
          </a:p>
        </p:txBody>
      </p:sp>
      <p:sp>
        <p:nvSpPr>
          <p:cNvPr id="19" name="Slide Number Placeholder 18"/>
          <p:cNvSpPr>
            <a:spLocks noGrp="1"/>
          </p:cNvSpPr>
          <p:nvPr>
            <p:ph type="sldNum" sz="quarter" idx="16"/>
          </p:nvPr>
        </p:nvSpPr>
        <p:spPr/>
        <p:txBody>
          <a:bodyPr/>
          <a:lstStyle/>
          <a:p>
            <a:fld id="{DA7E9C4D-62F9-4797-A2AF-6A52B8F4AFC0}" type="slidenum">
              <a:rPr lang="en-US" smtClean="0"/>
              <a:t>‹#›</a:t>
            </a:fld>
            <a:endParaRPr lang="en-US"/>
          </a:p>
        </p:txBody>
      </p:sp>
      <p:sp>
        <p:nvSpPr>
          <p:cNvPr id="23" name="Footer Placeholder 22"/>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1852209" y="2026918"/>
            <a:ext cx="5439582" cy="3263750"/>
          </a:xfrm>
          <a:solidFill>
            <a:schemeClr val="tx1"/>
          </a:solidFill>
          <a:ln w="69850" cmpd="dbl">
            <a:solidFill>
              <a:schemeClr val="tx1"/>
            </a:solidFill>
            <a:miter lim="800000"/>
          </a:ln>
        </p:spPr>
        <p:txBody>
          <a:bodyPr vert="horz" lIns="91440" tIns="45720" rIns="91440" bIns="45720" rtlCol="0" anchor="ctr" anchorCtr="0">
            <a:normAutofit/>
          </a:bodyPr>
          <a:lstStyle>
            <a:lvl1pPr marL="0" indent="0" algn="ctr" defTabSz="914400" rtl="0" eaLnBrk="1" latinLnBrk="0" hangingPunct="1">
              <a:spcBef>
                <a:spcPts val="400"/>
              </a:spcBef>
              <a:buNone/>
              <a:defRPr lang="en-US" sz="1800" b="0" kern="1200" cap="none" spc="0" baseline="0" dirty="0">
                <a:solidFill>
                  <a:schemeClr val="bg1"/>
                </a:solidFill>
                <a:latin typeface="+mj-lt"/>
                <a:ea typeface="+mj-ea"/>
                <a:cs typeface="Tunga" pitchFamily="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1737360" y="5516880"/>
            <a:ext cx="5669280" cy="548640"/>
          </a:xfrm>
        </p:spPr>
        <p:txBody>
          <a:bodyPr vert="horz" lIns="91440" tIns="0" rIns="91440" bIns="0" rtlCol="0" anchor="ctr" anchorCtr="0">
            <a:normAutofit/>
          </a:bodyPr>
          <a:lstStyle>
            <a:lvl1pPr marL="0" indent="0">
              <a:spcBef>
                <a:spcPts val="0"/>
              </a:spcBef>
              <a:buNone/>
              <a:defRPr lang="en-US" sz="1400" b="0" i="0" kern="1200" cap="none" spc="30" baseline="0" smtClean="0">
                <a:solidFill>
                  <a:schemeClr val="tx2"/>
                </a:solidFill>
                <a:latin typeface="+mn-lt"/>
                <a:ea typeface="+mn-ea"/>
                <a:cs typeface="Tahoma" pitchFamily="34" charset="0"/>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marL="0" lvl="0" indent="0" algn="ctr" defTabSz="914400" rtl="0" eaLnBrk="1" latinLnBrk="0" hangingPunct="1">
              <a:spcBef>
                <a:spcPts val="600"/>
              </a:spcBef>
              <a:spcAft>
                <a:spcPts val="0"/>
              </a:spcAft>
              <a:buClr>
                <a:schemeClr val="accent1"/>
              </a:buClr>
              <a:buFont typeface="Arial" pitchFamily="34" charset="0"/>
              <a:buNone/>
            </a:pPr>
            <a:r>
              <a:rPr lang="en-US" smtClean="0"/>
              <a:t>Click to edit Master text styles</a:t>
            </a:r>
          </a:p>
        </p:txBody>
      </p:sp>
      <p:sp>
        <p:nvSpPr>
          <p:cNvPr id="12" name="Title 11"/>
          <p:cNvSpPr>
            <a:spLocks noGrp="1"/>
          </p:cNvSpPr>
          <p:nvPr>
            <p:ph type="title"/>
          </p:nvPr>
        </p:nvSpPr>
        <p:spPr>
          <a:xfrm>
            <a:off x="2514600" y="975360"/>
            <a:ext cx="4114800" cy="701040"/>
          </a:xfrm>
        </p:spPr>
        <p:txBody>
          <a:bodyPr/>
          <a:lstStyle/>
          <a:p>
            <a:r>
              <a:rPr lang="en-US" smtClean="0"/>
              <a:t>Click to edit Master title style</a:t>
            </a:r>
            <a:endParaRPr lang="en-US"/>
          </a:p>
        </p:txBody>
      </p:sp>
      <p:sp>
        <p:nvSpPr>
          <p:cNvPr id="13" name="Date Placeholder 12"/>
          <p:cNvSpPr>
            <a:spLocks noGrp="1"/>
          </p:cNvSpPr>
          <p:nvPr>
            <p:ph type="dt" sz="half" idx="14"/>
          </p:nvPr>
        </p:nvSpPr>
        <p:spPr>
          <a:xfrm>
            <a:off x="2981325" y="273180"/>
            <a:ext cx="3181350" cy="292100"/>
          </a:xfrm>
        </p:spPr>
        <p:txBody>
          <a:bodyPr/>
          <a:lstStyle/>
          <a:p>
            <a:fld id="{DAFDFEC5-1EE0-43B3-8154-66363A5F72B4}" type="datetimeFigureOut">
              <a:rPr lang="en-US" smtClean="0"/>
              <a:t>12/10/2025</a:t>
            </a:fld>
            <a:endParaRPr lang="en-US"/>
          </a:p>
        </p:txBody>
      </p:sp>
      <p:sp>
        <p:nvSpPr>
          <p:cNvPr id="14" name="Slide Number Placeholder 13"/>
          <p:cNvSpPr>
            <a:spLocks noGrp="1"/>
          </p:cNvSpPr>
          <p:nvPr>
            <p:ph type="sldNum" sz="quarter" idx="15"/>
          </p:nvPr>
        </p:nvSpPr>
        <p:spPr>
          <a:xfrm>
            <a:off x="4038600" y="6172200"/>
            <a:ext cx="1066800" cy="304800"/>
          </a:xfrm>
        </p:spPr>
        <p:txBody>
          <a:bodyPr/>
          <a:lstStyle/>
          <a:p>
            <a:fld id="{DA7E9C4D-62F9-4797-A2AF-6A52B8F4AFC0}" type="slidenum">
              <a:rPr lang="en-US" smtClean="0"/>
              <a:t>‹#›</a:t>
            </a:fld>
            <a:endParaRPr lang="en-US"/>
          </a:p>
        </p:txBody>
      </p:sp>
      <p:sp>
        <p:nvSpPr>
          <p:cNvPr id="15" name="Footer Placeholder 14"/>
          <p:cNvSpPr>
            <a:spLocks noGrp="1"/>
          </p:cNvSpPr>
          <p:nvPr>
            <p:ph type="ftr" sz="quarter" idx="16"/>
          </p:nvPr>
        </p:nvSpPr>
        <p:spPr>
          <a:xfrm>
            <a:off x="1447800" y="6486525"/>
            <a:ext cx="6248400" cy="29210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FDFEC5-1EE0-43B3-8154-66363A5F72B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9C4D-62F9-4797-A2AF-6A52B8F4AFC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cxnSp>
        <p:nvCxnSpPr>
          <p:cNvPr id="9" name="Straight Connector 8"/>
          <p:cNvCxnSpPr/>
          <p:nvPr/>
        </p:nvCxnSpPr>
        <p:spPr>
          <a:xfrm rot="5400000">
            <a:off x="4267200" y="3429000"/>
            <a:ext cx="6858000" cy="1588"/>
          </a:xfrm>
          <a:prstGeom prst="line">
            <a:avLst/>
          </a:prstGeom>
          <a:ln w="127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bwMode="hidden">
          <a:xfrm>
            <a:off x="0" y="1"/>
            <a:ext cx="7696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Vertical Text Placeholder 2"/>
          <p:cNvSpPr>
            <a:spLocks noGrp="1"/>
          </p:cNvSpPr>
          <p:nvPr>
            <p:ph type="body" orient="vert" idx="1"/>
          </p:nvPr>
        </p:nvSpPr>
        <p:spPr>
          <a:xfrm>
            <a:off x="457200" y="914401"/>
            <a:ext cx="66294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FDFEC5-1EE0-43B3-8154-66363A5F72B4}"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9C4D-62F9-4797-A2AF-6A52B8F4AFC0}" type="slidenum">
              <a:rPr lang="en-US" smtClean="0"/>
              <a:t>‹#›</a:t>
            </a:fld>
            <a:endParaRPr lang="en-US"/>
          </a:p>
        </p:txBody>
      </p:sp>
      <p:sp>
        <p:nvSpPr>
          <p:cNvPr id="2" name="Vertical Title 1"/>
          <p:cNvSpPr>
            <a:spLocks noGrp="1"/>
          </p:cNvSpPr>
          <p:nvPr>
            <p:ph type="title" orient="vert"/>
          </p:nvPr>
        </p:nvSpPr>
        <p:spPr>
          <a:xfrm>
            <a:off x="7239000" y="914401"/>
            <a:ext cx="926980" cy="5029200"/>
          </a:xfrm>
        </p:spPr>
        <p:txBody>
          <a:bodyPr vert="eaVert"/>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8" name="Rectangle 7"/>
          <p:cNvSpPr/>
          <p:nvPr/>
        </p:nvSpPr>
        <p:spPr bwMode="hidden">
          <a:xfrm>
            <a:off x="0" y="1335973"/>
            <a:ext cx="9144000" cy="5522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2019301"/>
            <a:ext cx="8229600" cy="411734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981325" y="273180"/>
            <a:ext cx="3181350" cy="292100"/>
          </a:xfrm>
          <a:prstGeom prst="rect">
            <a:avLst/>
          </a:prstGeom>
        </p:spPr>
        <p:txBody>
          <a:bodyPr vert="horz" lIns="91440" tIns="45720" rIns="91440" bIns="45720" rtlCol="0" anchor="ctr">
            <a:noAutofit/>
          </a:bodyPr>
          <a:lstStyle>
            <a:lvl1pPr algn="ctr">
              <a:defRPr sz="1200" b="0" cap="all" spc="300" baseline="0">
                <a:solidFill>
                  <a:schemeClr val="tx1"/>
                </a:solidFill>
              </a:defRPr>
            </a:lvl1pPr>
          </a:lstStyle>
          <a:p>
            <a:fld id="{DAFDFEC5-1EE0-43B3-8154-66363A5F72B4}" type="datetimeFigureOut">
              <a:rPr lang="en-US" smtClean="0"/>
              <a:t>12/10/2025</a:t>
            </a:fld>
            <a:endParaRPr lang="en-US"/>
          </a:p>
        </p:txBody>
      </p:sp>
      <p:sp>
        <p:nvSpPr>
          <p:cNvPr id="5" name="Footer Placeholder 4"/>
          <p:cNvSpPr>
            <a:spLocks noGrp="1"/>
          </p:cNvSpPr>
          <p:nvPr>
            <p:ph type="ftr" sz="quarter" idx="3"/>
          </p:nvPr>
        </p:nvSpPr>
        <p:spPr>
          <a:xfrm>
            <a:off x="1447800" y="6486525"/>
            <a:ext cx="6248400" cy="292100"/>
          </a:xfrm>
          <a:prstGeom prst="rect">
            <a:avLst/>
          </a:prstGeom>
        </p:spPr>
        <p:txBody>
          <a:bodyPr vert="horz" lIns="91440" tIns="45720" rIns="91440" bIns="45720" rtlCol="0" anchor="ctr">
            <a:normAutofit/>
          </a:bodyPr>
          <a:lstStyle>
            <a:lvl1pPr algn="ctr">
              <a:defRPr sz="1100" b="0" cap="all" spc="300" baseline="0">
                <a:solidFill>
                  <a:schemeClr val="tx1"/>
                </a:solidFill>
              </a:defRPr>
            </a:lvl1pPr>
          </a:lstStyle>
          <a:p>
            <a:endParaRPr lang="en-US"/>
          </a:p>
        </p:txBody>
      </p:sp>
      <p:sp>
        <p:nvSpPr>
          <p:cNvPr id="6" name="Slide Number Placeholder 5"/>
          <p:cNvSpPr>
            <a:spLocks noGrp="1"/>
          </p:cNvSpPr>
          <p:nvPr>
            <p:ph type="sldNum" sz="quarter" idx="4"/>
          </p:nvPr>
        </p:nvSpPr>
        <p:spPr>
          <a:xfrm>
            <a:off x="4038600" y="6172200"/>
            <a:ext cx="1066800" cy="304800"/>
          </a:xfrm>
          <a:prstGeom prst="rect">
            <a:avLst/>
          </a:prstGeom>
          <a:ln>
            <a:noFill/>
          </a:ln>
        </p:spPr>
        <p:txBody>
          <a:bodyPr vert="horz" lIns="0" tIns="0" rIns="0" bIns="0" rtlCol="0" anchor="ctr">
            <a:normAutofit/>
          </a:bodyPr>
          <a:lstStyle>
            <a:lvl1pPr algn="ctr">
              <a:defRPr sz="1200" b="1">
                <a:solidFill>
                  <a:schemeClr val="tx1"/>
                </a:solidFill>
              </a:defRPr>
            </a:lvl1pPr>
          </a:lstStyle>
          <a:p>
            <a:fld id="{DA7E9C4D-62F9-4797-A2AF-6A52B8F4AFC0}" type="slidenum">
              <a:rPr lang="en-US" smtClean="0"/>
              <a:t>‹#›</a:t>
            </a:fld>
            <a:endParaRPr lang="en-US"/>
          </a:p>
        </p:txBody>
      </p:sp>
      <p:cxnSp>
        <p:nvCxnSpPr>
          <p:cNvPr id="10" name="Straight Connector 9"/>
          <p:cNvCxnSpPr/>
          <p:nvPr/>
        </p:nvCxnSpPr>
        <p:spPr>
          <a:xfrm>
            <a:off x="0" y="1331436"/>
            <a:ext cx="9144000" cy="1588"/>
          </a:xfrm>
          <a:prstGeom prst="line">
            <a:avLst/>
          </a:prstGeom>
          <a:ln w="12700">
            <a:solidFill>
              <a:schemeClr val="tx2">
                <a:lumMod val="75000"/>
              </a:schemeClr>
            </a:solidFill>
          </a:ln>
          <a:effectLst/>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2514600" y="975360"/>
            <a:ext cx="4114800" cy="701040"/>
          </a:xfrm>
          <a:prstGeom prst="rect">
            <a:avLst/>
          </a:prstGeom>
          <a:solidFill>
            <a:schemeClr val="tx1"/>
          </a:solidFill>
          <a:ln w="76200" cmpd="thinThick">
            <a:solidFill>
              <a:schemeClr val="tx1"/>
            </a:solidFill>
            <a:miter lim="800000"/>
          </a:ln>
        </p:spPr>
        <p:txBody>
          <a:bodyPr vert="horz" lIns="91440" tIns="45720" rIns="91440" bIns="45720" rtlCol="0" anchor="ctr" anchorCtr="0">
            <a:normAutofit/>
          </a:bodyPr>
          <a:lstStyle/>
          <a:p>
            <a:r>
              <a:rPr lang="en-US" smtClean="0"/>
              <a:t>Click to edit Master title style</a:t>
            </a:r>
            <a:endParaRPr lang="en-US" dirty="0"/>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ts val="400"/>
        </a:spcBef>
        <a:buNone/>
        <a:defRPr sz="1800" b="1" kern="1200" cap="all" spc="0" baseline="0">
          <a:solidFill>
            <a:schemeClr val="bg1">
              <a:lumMod val="75000"/>
              <a:lumOff val="25000"/>
            </a:schemeClr>
          </a:solidFill>
          <a:effectLst/>
          <a:latin typeface="+mj-lt"/>
          <a:ea typeface="+mj-ea"/>
          <a:cs typeface="Tunga" pitchFamily="2"/>
        </a:defRPr>
      </a:lvl1pPr>
    </p:titleStyle>
    <p:bodyStyle>
      <a:lvl1pPr marL="0" indent="0" algn="ctr" defTabSz="914400" rtl="0" eaLnBrk="1" latinLnBrk="0" hangingPunct="1">
        <a:lnSpc>
          <a:spcPct val="100000"/>
        </a:lnSpc>
        <a:spcBef>
          <a:spcPts val="600"/>
        </a:spcBef>
        <a:spcAft>
          <a:spcPts val="0"/>
        </a:spcAft>
        <a:buClr>
          <a:schemeClr val="accent1"/>
        </a:buClr>
        <a:buFontTx/>
        <a:buNone/>
        <a:defRPr sz="2000" b="0" i="0" kern="1200" cap="none" spc="30" baseline="0">
          <a:solidFill>
            <a:schemeClr val="tx1"/>
          </a:solidFill>
          <a:latin typeface="+mn-lt"/>
          <a:ea typeface="+mn-ea"/>
          <a:cs typeface="Tahoma" pitchFamily="34" charset="0"/>
        </a:defRPr>
      </a:lvl1pPr>
      <a:lvl2pPr marL="0" indent="0" algn="ctr" defTabSz="914400" rtl="0" eaLnBrk="1" latinLnBrk="0" hangingPunct="1">
        <a:lnSpc>
          <a:spcPct val="100000"/>
        </a:lnSpc>
        <a:spcBef>
          <a:spcPts val="1200"/>
        </a:spcBef>
        <a:buClr>
          <a:schemeClr val="accent1"/>
        </a:buClr>
        <a:buFontTx/>
        <a:buNone/>
        <a:defRPr sz="1800" kern="1200">
          <a:solidFill>
            <a:schemeClr val="tx2"/>
          </a:solidFill>
          <a:latin typeface="+mn-lt"/>
          <a:ea typeface="+mn-ea"/>
          <a:cs typeface="Tahoma" pitchFamily="34" charset="0"/>
        </a:defRPr>
      </a:lvl2pPr>
      <a:lvl3pPr marL="0" indent="0" algn="ctr" defTabSz="914400" rtl="0" eaLnBrk="1" latinLnBrk="0" hangingPunct="1">
        <a:lnSpc>
          <a:spcPct val="100000"/>
        </a:lnSpc>
        <a:spcBef>
          <a:spcPts val="1200"/>
        </a:spcBef>
        <a:buClr>
          <a:schemeClr val="accent1"/>
        </a:buClr>
        <a:buFontTx/>
        <a:buNone/>
        <a:defRPr sz="1600" kern="1200">
          <a:solidFill>
            <a:schemeClr val="tx1"/>
          </a:solidFill>
          <a:latin typeface="+mn-lt"/>
          <a:ea typeface="+mn-ea"/>
          <a:cs typeface="Tahoma" pitchFamily="34" charset="0"/>
        </a:defRPr>
      </a:lvl3pPr>
      <a:lvl4pPr marL="0" indent="0" algn="ctr" defTabSz="914400" rtl="0" eaLnBrk="1" latinLnBrk="0" hangingPunct="1">
        <a:lnSpc>
          <a:spcPct val="100000"/>
        </a:lnSpc>
        <a:spcBef>
          <a:spcPts val="1200"/>
        </a:spcBef>
        <a:buClr>
          <a:schemeClr val="accent1"/>
        </a:buClr>
        <a:buFontTx/>
        <a:buNone/>
        <a:defRPr sz="1400" kern="1200">
          <a:solidFill>
            <a:schemeClr val="tx2"/>
          </a:solidFill>
          <a:latin typeface="+mn-lt"/>
          <a:ea typeface="+mn-ea"/>
          <a:cs typeface="Tahoma" pitchFamily="34" charset="0"/>
        </a:defRPr>
      </a:lvl4pPr>
      <a:lvl5pPr marL="0" indent="0" algn="ctr" defTabSz="914400" rtl="0" eaLnBrk="1" latinLnBrk="0" hangingPunct="1">
        <a:lnSpc>
          <a:spcPct val="100000"/>
        </a:lnSpc>
        <a:spcBef>
          <a:spcPts val="1200"/>
        </a:spcBef>
        <a:buClr>
          <a:schemeClr val="accent1"/>
        </a:buClr>
        <a:buFontTx/>
        <a:buNone/>
        <a:defRPr sz="1400" kern="1200" baseline="0">
          <a:solidFill>
            <a:schemeClr val="tx1"/>
          </a:solidFill>
          <a:latin typeface="+mn-lt"/>
          <a:ea typeface="+mn-ea"/>
          <a:cs typeface="Tahoma" pitchFamily="34" charset="0"/>
        </a:defRPr>
      </a:lvl5pPr>
      <a:lvl6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6pPr>
      <a:lvl7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7pPr>
      <a:lvl8pPr marL="0" indent="0" algn="ctr" defTabSz="914400" rtl="0" eaLnBrk="1" latinLnBrk="0" hangingPunct="1">
        <a:lnSpc>
          <a:spcPct val="100000"/>
        </a:lnSpc>
        <a:spcBef>
          <a:spcPts val="1200"/>
        </a:spcBef>
        <a:buFont typeface="Arial" pitchFamily="34" charset="0"/>
        <a:buNone/>
        <a:defRPr sz="1400" kern="1200">
          <a:solidFill>
            <a:schemeClr val="tx2"/>
          </a:solidFill>
          <a:latin typeface="+mn-lt"/>
          <a:ea typeface="+mn-ea"/>
          <a:cs typeface="+mn-cs"/>
        </a:defRPr>
      </a:lvl8pPr>
      <a:lvl9pPr marL="0" indent="0" algn="ctr" defTabSz="914400" rtl="0" eaLnBrk="1" latinLnBrk="0" hangingPunct="1">
        <a:lnSpc>
          <a:spcPct val="100000"/>
        </a:lnSpc>
        <a:spcBef>
          <a:spcPts val="1200"/>
        </a:spcBef>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38400" y="3048000"/>
            <a:ext cx="4013200" cy="428625"/>
          </a:xfrm>
        </p:spPr>
        <p:txBody>
          <a:bodyPr>
            <a:normAutofit fontScale="92500" lnSpcReduction="20000"/>
          </a:bodyPr>
          <a:lstStyle/>
          <a:p>
            <a:r>
              <a:rPr lang="en-US" b="1" dirty="0">
                <a:latin typeface="Arial Black" pitchFamily="34" charset="0"/>
              </a:rPr>
              <a:t>Smart-Grid Energy Consumption Forecasting </a:t>
            </a:r>
          </a:p>
        </p:txBody>
      </p:sp>
      <p:sp>
        <p:nvSpPr>
          <p:cNvPr id="2" name="Title 1"/>
          <p:cNvSpPr>
            <a:spLocks noGrp="1"/>
          </p:cNvSpPr>
          <p:nvPr>
            <p:ph type="title"/>
          </p:nvPr>
        </p:nvSpPr>
        <p:spPr/>
        <p:txBody>
          <a:bodyPr/>
          <a:lstStyle/>
          <a:p>
            <a:r>
              <a:rPr lang="en-US" dirty="0" smtClean="0">
                <a:latin typeface="+mn-lt"/>
              </a:rPr>
              <a:t>DTS 301 PROJECT</a:t>
            </a:r>
            <a:endParaRPr lang="en-US" dirty="0">
              <a:latin typeface="+mn-lt"/>
            </a:endParaRPr>
          </a:p>
        </p:txBody>
      </p:sp>
    </p:spTree>
    <p:extLst>
      <p:ext uri="{BB962C8B-B14F-4D97-AF65-F5344CB8AC3E}">
        <p14:creationId xmlns:p14="http://schemas.microsoft.com/office/powerpoint/2010/main" val="1549594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lnSpcReduction="10000"/>
          </a:bodyPr>
          <a:lstStyle/>
          <a:p>
            <a:endParaRPr lang="en-US" dirty="0"/>
          </a:p>
          <a:p>
            <a:pPr marL="342900" indent="-342900" algn="l">
              <a:buFont typeface="Arial" pitchFamily="34" charset="0"/>
              <a:buChar char="•"/>
            </a:pPr>
            <a:r>
              <a:rPr lang="en-US" sz="2300" dirty="0"/>
              <a:t>Gabriel </a:t>
            </a:r>
            <a:r>
              <a:rPr lang="en-US" sz="2300" dirty="0" err="1"/>
              <a:t>Theophilus</a:t>
            </a:r>
            <a:r>
              <a:rPr lang="en-US" sz="2300" dirty="0"/>
              <a:t> Run/</a:t>
            </a:r>
            <a:r>
              <a:rPr lang="en-US" sz="2300" dirty="0" err="1"/>
              <a:t>cmp</a:t>
            </a:r>
            <a:r>
              <a:rPr lang="en-US" sz="2300" dirty="0"/>
              <a:t>/23/15347</a:t>
            </a:r>
            <a:endParaRPr lang="en-US" sz="2300" dirty="0"/>
          </a:p>
          <a:p>
            <a:pPr marL="342900" indent="-342900" algn="l">
              <a:buFont typeface="Arial" pitchFamily="34" charset="0"/>
              <a:buChar char="•"/>
            </a:pPr>
            <a:r>
              <a:rPr lang="en-US" sz="2300" dirty="0"/>
              <a:t>Ali peace Run/</a:t>
            </a:r>
            <a:r>
              <a:rPr lang="en-US" sz="2300" dirty="0" err="1"/>
              <a:t>cmp</a:t>
            </a:r>
            <a:r>
              <a:rPr lang="en-US" sz="2300" dirty="0"/>
              <a:t>/23/15203</a:t>
            </a:r>
            <a:endParaRPr lang="en-US" sz="2300" dirty="0"/>
          </a:p>
          <a:p>
            <a:pPr marL="342900" indent="-342900" algn="l">
              <a:buFont typeface="Arial" pitchFamily="34" charset="0"/>
              <a:buChar char="•"/>
            </a:pPr>
            <a:r>
              <a:rPr lang="en-US" sz="2300" dirty="0" err="1"/>
              <a:t>Ofili</a:t>
            </a:r>
            <a:r>
              <a:rPr lang="en-US" sz="2300" dirty="0"/>
              <a:t> Daniel Run/</a:t>
            </a:r>
            <a:r>
              <a:rPr lang="en-US" sz="2300" dirty="0" err="1"/>
              <a:t>cmp</a:t>
            </a:r>
            <a:r>
              <a:rPr lang="en-US" sz="2300" dirty="0"/>
              <a:t>/23/15290</a:t>
            </a:r>
            <a:endParaRPr lang="en-US" sz="2300" dirty="0"/>
          </a:p>
          <a:p>
            <a:pPr marL="342900" indent="-342900" algn="l">
              <a:buFont typeface="Arial" pitchFamily="34" charset="0"/>
              <a:buChar char="•"/>
            </a:pPr>
            <a:r>
              <a:rPr lang="en-US" sz="2300" dirty="0" err="1"/>
              <a:t>Negedu</a:t>
            </a:r>
            <a:r>
              <a:rPr lang="en-US" sz="2300" dirty="0"/>
              <a:t> Israel Run/</a:t>
            </a:r>
            <a:r>
              <a:rPr lang="en-US" sz="2300" dirty="0" err="1"/>
              <a:t>cmp</a:t>
            </a:r>
            <a:r>
              <a:rPr lang="en-US" sz="2300" dirty="0"/>
              <a:t>/23/15283</a:t>
            </a:r>
            <a:endParaRPr lang="en-US" sz="2300" dirty="0"/>
          </a:p>
          <a:p>
            <a:pPr marL="342900" indent="-342900" algn="l">
              <a:buFont typeface="Arial" pitchFamily="34" charset="0"/>
              <a:buChar char="•"/>
            </a:pPr>
            <a:r>
              <a:rPr lang="en-US" sz="2300" dirty="0" err="1"/>
              <a:t>Adegbite</a:t>
            </a:r>
            <a:r>
              <a:rPr lang="en-US" sz="2300" dirty="0"/>
              <a:t> John </a:t>
            </a:r>
            <a:r>
              <a:rPr lang="en-US" sz="2300" dirty="0" err="1"/>
              <a:t>Oluwadamilola</a:t>
            </a:r>
            <a:r>
              <a:rPr lang="en-US" sz="2300" dirty="0"/>
              <a:t> Run/</a:t>
            </a:r>
            <a:r>
              <a:rPr lang="en-US" sz="2300" dirty="0" err="1"/>
              <a:t>cmp</a:t>
            </a:r>
            <a:r>
              <a:rPr lang="en-US" sz="2300" dirty="0"/>
              <a:t>/23/15170</a:t>
            </a:r>
            <a:endParaRPr lang="en-US" sz="2300" dirty="0"/>
          </a:p>
          <a:p>
            <a:pPr marL="342900" indent="-342900" algn="l">
              <a:buFont typeface="Arial" pitchFamily="34" charset="0"/>
              <a:buChar char="•"/>
            </a:pPr>
            <a:r>
              <a:rPr lang="en-US" sz="2300" dirty="0" err="1"/>
              <a:t>Ibiyinka</a:t>
            </a:r>
            <a:r>
              <a:rPr lang="en-US" sz="2300" dirty="0"/>
              <a:t> </a:t>
            </a:r>
            <a:r>
              <a:rPr lang="en-US" sz="2300" dirty="0" err="1"/>
              <a:t>Adebola</a:t>
            </a:r>
            <a:r>
              <a:rPr lang="en-US" sz="2300" dirty="0"/>
              <a:t> Run/</a:t>
            </a:r>
            <a:r>
              <a:rPr lang="en-US" sz="2300" dirty="0" err="1"/>
              <a:t>cmp</a:t>
            </a:r>
            <a:r>
              <a:rPr lang="en-US" sz="2300" dirty="0"/>
              <a:t>/23/15256</a:t>
            </a:r>
            <a:endParaRPr lang="en-US" sz="2300" dirty="0"/>
          </a:p>
          <a:p>
            <a:pPr marL="342900" indent="-342900" algn="l">
              <a:buFont typeface="Arial" pitchFamily="34" charset="0"/>
              <a:buChar char="•"/>
            </a:pPr>
            <a:r>
              <a:rPr lang="en-US" sz="2300" dirty="0" err="1"/>
              <a:t>Adelabu</a:t>
            </a:r>
            <a:r>
              <a:rPr lang="en-US" sz="2300" dirty="0"/>
              <a:t> </a:t>
            </a:r>
            <a:r>
              <a:rPr lang="en-US" sz="2300" dirty="0" err="1"/>
              <a:t>Adebowale</a:t>
            </a:r>
            <a:r>
              <a:rPr lang="en-US" sz="2300" dirty="0"/>
              <a:t> Run/</a:t>
            </a:r>
            <a:r>
              <a:rPr lang="en-US" sz="2300" dirty="0" err="1"/>
              <a:t>cmp</a:t>
            </a:r>
            <a:r>
              <a:rPr lang="en-US" sz="2300" dirty="0"/>
              <a:t>/23/15172</a:t>
            </a:r>
            <a:endParaRPr lang="en-US" sz="2300" dirty="0"/>
          </a:p>
          <a:p>
            <a:pPr marL="342900" indent="-342900" algn="l">
              <a:buFont typeface="Arial" pitchFamily="34" charset="0"/>
              <a:buChar char="•"/>
            </a:pPr>
            <a:r>
              <a:rPr lang="en-US" sz="2300" dirty="0" err="1"/>
              <a:t>Adeola</a:t>
            </a:r>
            <a:r>
              <a:rPr lang="en-US" sz="2300" dirty="0"/>
              <a:t> </a:t>
            </a:r>
            <a:r>
              <a:rPr lang="en-US" sz="2300" dirty="0" err="1"/>
              <a:t>Toluwase</a:t>
            </a:r>
            <a:r>
              <a:rPr lang="en-US" sz="2300" dirty="0"/>
              <a:t> Run/</a:t>
            </a:r>
            <a:r>
              <a:rPr lang="en-US" sz="2300" dirty="0" err="1"/>
              <a:t>cmp</a:t>
            </a:r>
            <a:r>
              <a:rPr lang="en-US" sz="2300" dirty="0"/>
              <a:t>/23/15174</a:t>
            </a:r>
            <a:endParaRPr lang="en-US" sz="2300" dirty="0"/>
          </a:p>
          <a:p>
            <a:pPr marL="342900" indent="-342900" algn="l">
              <a:buFont typeface="Arial" pitchFamily="34" charset="0"/>
              <a:buChar char="•"/>
            </a:pPr>
            <a:r>
              <a:rPr lang="en-US" sz="2300" dirty="0" err="1"/>
              <a:t>Eigbiluese</a:t>
            </a:r>
            <a:r>
              <a:rPr lang="en-US" sz="2300" dirty="0"/>
              <a:t> Jude Run/</a:t>
            </a:r>
            <a:r>
              <a:rPr lang="en-US" sz="2300" dirty="0" err="1"/>
              <a:t>cmp</a:t>
            </a:r>
            <a:r>
              <a:rPr lang="en-US" sz="2300" dirty="0"/>
              <a:t>/23/15234</a:t>
            </a:r>
            <a:endParaRPr lang="en-US" sz="2300" dirty="0"/>
          </a:p>
          <a:p>
            <a:pPr marL="342900" indent="-342900" algn="l">
              <a:buFont typeface="Arial" pitchFamily="34" charset="0"/>
              <a:buChar char="•"/>
            </a:pPr>
            <a:r>
              <a:rPr lang="en-US" sz="2300" dirty="0" err="1"/>
              <a:t>Aderibigbe</a:t>
            </a:r>
            <a:r>
              <a:rPr lang="en-US" sz="2300" dirty="0"/>
              <a:t> </a:t>
            </a:r>
            <a:r>
              <a:rPr lang="en-US" sz="2300" dirty="0" err="1"/>
              <a:t>Inioluwa</a:t>
            </a:r>
            <a:r>
              <a:rPr lang="en-US" sz="2300" dirty="0"/>
              <a:t> Run/</a:t>
            </a:r>
            <a:r>
              <a:rPr lang="en-US" sz="2300" dirty="0" err="1"/>
              <a:t>cmp</a:t>
            </a:r>
            <a:r>
              <a:rPr lang="en-US" sz="2300" dirty="0"/>
              <a:t>/23/15175</a:t>
            </a:r>
            <a:endParaRPr lang="en-US" sz="2300" dirty="0"/>
          </a:p>
          <a:p>
            <a:pPr marL="342900" indent="-342900" algn="l">
              <a:buFont typeface="Arial" pitchFamily="34" charset="0"/>
              <a:buChar char="•"/>
            </a:pPr>
            <a:endParaRPr lang="en-US" sz="2100" dirty="0"/>
          </a:p>
        </p:txBody>
      </p:sp>
      <p:sp>
        <p:nvSpPr>
          <p:cNvPr id="3" name="Title 2"/>
          <p:cNvSpPr>
            <a:spLocks noGrp="1"/>
          </p:cNvSpPr>
          <p:nvPr>
            <p:ph type="title"/>
          </p:nvPr>
        </p:nvSpPr>
        <p:spPr/>
        <p:txBody>
          <a:bodyPr/>
          <a:lstStyle/>
          <a:p>
            <a:r>
              <a:rPr lang="en-US" dirty="0" smtClean="0"/>
              <a:t>GROUP MEMBERS</a:t>
            </a:r>
            <a:endParaRPr lang="en-US" dirty="0"/>
          </a:p>
        </p:txBody>
      </p:sp>
    </p:spTree>
    <p:extLst>
      <p:ext uri="{BB962C8B-B14F-4D97-AF65-F5344CB8AC3E}">
        <p14:creationId xmlns:p14="http://schemas.microsoft.com/office/powerpoint/2010/main" val="2589915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style>
          <a:lnRef idx="0">
            <a:schemeClr val="dk1"/>
          </a:lnRef>
          <a:fillRef idx="3">
            <a:schemeClr val="dk1"/>
          </a:fillRef>
          <a:effectRef idx="3">
            <a:schemeClr val="dk1"/>
          </a:effectRef>
          <a:fontRef idx="minor">
            <a:schemeClr val="lt1"/>
          </a:fontRef>
        </p:style>
        <p:txBody>
          <a:bodyPr>
            <a:normAutofit fontScale="92500" lnSpcReduction="20000"/>
          </a:bodyPr>
          <a:lstStyle/>
          <a:p>
            <a:pPr marL="342900" indent="-342900">
              <a:buFont typeface="Arial" pitchFamily="34" charset="0"/>
              <a:buChar char="•"/>
            </a:pPr>
            <a:r>
              <a:rPr lang="en-US" dirty="0">
                <a:solidFill>
                  <a:schemeClr val="tx1"/>
                </a:solidFill>
              </a:rPr>
              <a:t>This project builds a </a:t>
            </a:r>
            <a:r>
              <a:rPr lang="en-US" b="1" dirty="0">
                <a:solidFill>
                  <a:schemeClr val="tx1"/>
                </a:solidFill>
              </a:rPr>
              <a:t>real-time energy consumption forecasting system</a:t>
            </a:r>
            <a:r>
              <a:rPr lang="en-US" dirty="0">
                <a:solidFill>
                  <a:schemeClr val="tx1"/>
                </a:solidFill>
              </a:rPr>
              <a:t> for smart grids.</a:t>
            </a:r>
            <a:br>
              <a:rPr lang="en-US" dirty="0">
                <a:solidFill>
                  <a:schemeClr val="tx1"/>
                </a:solidFill>
              </a:rPr>
            </a:br>
            <a:endParaRPr lang="en-US" dirty="0" smtClean="0">
              <a:solidFill>
                <a:schemeClr val="tx1"/>
              </a:solidFill>
            </a:endParaRPr>
          </a:p>
          <a:p>
            <a:pPr marL="342900" indent="-342900">
              <a:buFont typeface="Arial" pitchFamily="34" charset="0"/>
              <a:buChar char="•"/>
            </a:pPr>
            <a:r>
              <a:rPr lang="en-US" dirty="0" smtClean="0">
                <a:solidFill>
                  <a:schemeClr val="tx1"/>
                </a:solidFill>
              </a:rPr>
              <a:t>The </a:t>
            </a:r>
            <a:r>
              <a:rPr lang="en-US" dirty="0">
                <a:solidFill>
                  <a:schemeClr val="tx1"/>
                </a:solidFill>
              </a:rPr>
              <a:t>system is necessary because accurate forecasting helps grid operators </a:t>
            </a:r>
            <a:r>
              <a:rPr lang="en-US" b="1" dirty="0">
                <a:solidFill>
                  <a:schemeClr val="tx1"/>
                </a:solidFill>
              </a:rPr>
              <a:t>plan distribution, reduce overload, and improve </a:t>
            </a:r>
            <a:r>
              <a:rPr lang="en-US" b="1" dirty="0" smtClean="0">
                <a:solidFill>
                  <a:schemeClr val="tx1"/>
                </a:solidFill>
              </a:rPr>
              <a:t>efficiency</a:t>
            </a:r>
          </a:p>
          <a:p>
            <a:r>
              <a:rPr lang="en-US" dirty="0" smtClean="0">
                <a:solidFill>
                  <a:schemeClr val="tx1"/>
                </a:solidFill>
              </a:rPr>
              <a:t>The </a:t>
            </a:r>
            <a:r>
              <a:rPr lang="en-US" dirty="0">
                <a:solidFill>
                  <a:schemeClr val="tx1"/>
                </a:solidFill>
              </a:rPr>
              <a:t>system works by:</a:t>
            </a:r>
          </a:p>
          <a:p>
            <a:pPr marL="457200" indent="-457200">
              <a:buFont typeface="+mj-lt"/>
              <a:buAutoNum type="arabicPeriod"/>
            </a:pPr>
            <a:r>
              <a:rPr lang="en-US" dirty="0">
                <a:solidFill>
                  <a:schemeClr val="tx1"/>
                </a:solidFill>
              </a:rPr>
              <a:t>Using </a:t>
            </a:r>
            <a:r>
              <a:rPr lang="en-US" b="1" dirty="0">
                <a:solidFill>
                  <a:schemeClr val="tx1"/>
                </a:solidFill>
              </a:rPr>
              <a:t>Apache Spark Streaming</a:t>
            </a:r>
            <a:r>
              <a:rPr lang="en-US" dirty="0">
                <a:solidFill>
                  <a:schemeClr val="tx1"/>
                </a:solidFill>
              </a:rPr>
              <a:t> to ingest and process </a:t>
            </a:r>
            <a:r>
              <a:rPr lang="en-US" b="1" dirty="0">
                <a:solidFill>
                  <a:schemeClr val="tx1"/>
                </a:solidFill>
              </a:rPr>
              <a:t>large volumes of real-time data</a:t>
            </a:r>
            <a:r>
              <a:rPr lang="en-US" dirty="0">
                <a:solidFill>
                  <a:schemeClr val="tx1"/>
                </a:solidFill>
              </a:rPr>
              <a:t> from smart meters and </a:t>
            </a:r>
            <a:r>
              <a:rPr lang="en-US" dirty="0" err="1">
                <a:solidFill>
                  <a:schemeClr val="tx1"/>
                </a:solidFill>
              </a:rPr>
              <a:t>IoT</a:t>
            </a:r>
            <a:r>
              <a:rPr lang="en-US" dirty="0">
                <a:solidFill>
                  <a:schemeClr val="tx1"/>
                </a:solidFill>
              </a:rPr>
              <a:t> sensors.</a:t>
            </a:r>
          </a:p>
          <a:p>
            <a:pPr marL="457200" indent="-457200">
              <a:buFont typeface="+mj-lt"/>
              <a:buAutoNum type="arabicPeriod"/>
            </a:pPr>
            <a:r>
              <a:rPr lang="en-US" dirty="0" smtClean="0">
                <a:solidFill>
                  <a:schemeClr val="tx1"/>
                </a:solidFill>
              </a:rPr>
              <a:t>Applying</a:t>
            </a:r>
            <a:r>
              <a:rPr lang="en-US" dirty="0">
                <a:solidFill>
                  <a:schemeClr val="tx1"/>
                </a:solidFill>
              </a:rPr>
              <a:t> </a:t>
            </a:r>
            <a:r>
              <a:rPr lang="en-US" b="1" dirty="0">
                <a:solidFill>
                  <a:schemeClr val="tx1"/>
                </a:solidFill>
              </a:rPr>
              <a:t>machine learning models</a:t>
            </a:r>
            <a:r>
              <a:rPr lang="en-US" dirty="0">
                <a:solidFill>
                  <a:schemeClr val="tx1"/>
                </a:solidFill>
              </a:rPr>
              <a:t>—specifically, </a:t>
            </a:r>
            <a:r>
              <a:rPr lang="en-US" b="1" dirty="0">
                <a:solidFill>
                  <a:schemeClr val="tx1"/>
                </a:solidFill>
              </a:rPr>
              <a:t>LSTM (a deep learning model)</a:t>
            </a:r>
            <a:r>
              <a:rPr lang="en-US" dirty="0">
                <a:solidFill>
                  <a:schemeClr val="tx1"/>
                </a:solidFill>
              </a:rPr>
              <a:t> and </a:t>
            </a:r>
            <a:r>
              <a:rPr lang="en-US" b="1" dirty="0">
                <a:solidFill>
                  <a:schemeClr val="tx1"/>
                </a:solidFill>
              </a:rPr>
              <a:t>traditional ARIMA time-series models</a:t>
            </a:r>
            <a:r>
              <a:rPr lang="en-US" dirty="0">
                <a:solidFill>
                  <a:schemeClr val="tx1"/>
                </a:solidFill>
              </a:rPr>
              <a:t>—to historical data to predict future consumption.</a:t>
            </a:r>
          </a:p>
          <a:p>
            <a:pPr marL="457200" indent="-457200">
              <a:buFont typeface="+mj-lt"/>
              <a:buAutoNum type="arabicPeriod"/>
            </a:pPr>
            <a:r>
              <a:rPr lang="en-US" b="1" dirty="0">
                <a:solidFill>
                  <a:schemeClr val="tx1"/>
                </a:solidFill>
              </a:rPr>
              <a:t>Incorporating external factors</a:t>
            </a:r>
            <a:r>
              <a:rPr lang="en-US" dirty="0">
                <a:solidFill>
                  <a:schemeClr val="tx1"/>
                </a:solidFill>
              </a:rPr>
              <a:t> like weather and calendar information to significantly </a:t>
            </a:r>
            <a:r>
              <a:rPr lang="en-US" b="1" dirty="0">
                <a:solidFill>
                  <a:schemeClr val="tx1"/>
                </a:solidFill>
              </a:rPr>
              <a:t>improve prediction accuracy</a:t>
            </a:r>
            <a:r>
              <a:rPr lang="en-US" dirty="0">
                <a:solidFill>
                  <a:schemeClr val="tx1"/>
                </a:solidFill>
              </a:rPr>
              <a:t>.</a:t>
            </a:r>
          </a:p>
          <a:p>
            <a:pPr marL="457200" indent="-457200">
              <a:buFont typeface="+mj-lt"/>
              <a:buAutoNum type="arabicPeriod"/>
            </a:pPr>
            <a:r>
              <a:rPr lang="en-US" b="1" dirty="0">
                <a:solidFill>
                  <a:schemeClr val="tx1"/>
                </a:solidFill>
              </a:rPr>
              <a:t>Combining these models in an ensemble approach</a:t>
            </a:r>
            <a:r>
              <a:rPr lang="en-US" dirty="0">
                <a:solidFill>
                  <a:schemeClr val="tx1"/>
                </a:solidFill>
              </a:rPr>
              <a:t> to produce a final forecast that is </a:t>
            </a:r>
            <a:r>
              <a:rPr lang="en-US" b="1" dirty="0">
                <a:solidFill>
                  <a:schemeClr val="tx1"/>
                </a:solidFill>
              </a:rPr>
              <a:t>more reliable</a:t>
            </a:r>
            <a:r>
              <a:rPr lang="en-US" dirty="0">
                <a:solidFill>
                  <a:schemeClr val="tx1"/>
                </a:solidFill>
              </a:rPr>
              <a:t> than any single model could provide.</a:t>
            </a:r>
          </a:p>
          <a:p>
            <a:endParaRPr lang="en-US" dirty="0">
              <a:solidFill>
                <a:schemeClr val="tx1"/>
              </a:solidFill>
            </a:endParaRPr>
          </a:p>
        </p:txBody>
      </p:sp>
      <p:sp>
        <p:nvSpPr>
          <p:cNvPr id="3" name="Title 2"/>
          <p:cNvSpPr>
            <a:spLocks noGrp="1"/>
          </p:cNvSpPr>
          <p:nvPr>
            <p:ph type="title"/>
          </p:nvPr>
        </p:nvSpPr>
        <p:spPr/>
        <p:txBody>
          <a:bodyPr/>
          <a:lstStyle/>
          <a:p>
            <a:r>
              <a:rPr lang="en-US" dirty="0" smtClean="0"/>
              <a:t>INTRODUCTION</a:t>
            </a:r>
            <a:endParaRPr lang="en-US" dirty="0"/>
          </a:p>
        </p:txBody>
      </p:sp>
    </p:spTree>
    <p:extLst>
      <p:ext uri="{BB962C8B-B14F-4D97-AF65-F5344CB8AC3E}">
        <p14:creationId xmlns:p14="http://schemas.microsoft.com/office/powerpoint/2010/main" val="1459651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style>
          <a:lnRef idx="0">
            <a:schemeClr val="dk1"/>
          </a:lnRef>
          <a:fillRef idx="3">
            <a:schemeClr val="dk1"/>
          </a:fillRef>
          <a:effectRef idx="3">
            <a:schemeClr val="dk1"/>
          </a:effectRef>
          <a:fontRef idx="minor">
            <a:schemeClr val="lt1"/>
          </a:fontRef>
        </p:style>
        <p:txBody>
          <a:bodyPr/>
          <a:lstStyle/>
          <a:p>
            <a:endParaRPr lang="en-US" dirty="0"/>
          </a:p>
          <a:p>
            <a:r>
              <a:rPr lang="en-US" dirty="0"/>
              <a:t>Accurate and timely energy consumption forecasting is critical for optimizing smart grid operations, preventing grid instability, and improving resource allocation. The challenge lies in processing high-volume, real- time sensor data and building sophisticated models capable of capturing both the inherent time-series dependencies and the influence of complex external variables.</a:t>
            </a:r>
            <a:endParaRPr lang="en-US" dirty="0"/>
          </a:p>
          <a:p>
            <a:r>
              <a:rPr lang="en-US" dirty="0"/>
              <a:t/>
            </a:r>
            <a:br>
              <a:rPr lang="en-US" dirty="0"/>
            </a:br>
            <a:endParaRPr lang="en-US" dirty="0"/>
          </a:p>
        </p:txBody>
      </p:sp>
      <p:sp>
        <p:nvSpPr>
          <p:cNvPr id="3" name="Title 2"/>
          <p:cNvSpPr>
            <a:spLocks noGrp="1"/>
          </p:cNvSpPr>
          <p:nvPr>
            <p:ph type="title"/>
          </p:nvPr>
        </p:nvSpPr>
        <p:spPr/>
        <p:txBody>
          <a:bodyPr/>
          <a:lstStyle/>
          <a:p>
            <a:r>
              <a:rPr lang="en-US" dirty="0" smtClean="0"/>
              <a:t>PROBLEM STATEMENT</a:t>
            </a:r>
            <a:endParaRPr lang="en-US" dirty="0"/>
          </a:p>
        </p:txBody>
      </p:sp>
    </p:spTree>
    <p:extLst>
      <p:ext uri="{BB962C8B-B14F-4D97-AF65-F5344CB8AC3E}">
        <p14:creationId xmlns:p14="http://schemas.microsoft.com/office/powerpoint/2010/main" val="3954332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dirty="0"/>
              <a:t>The main objective of energy consumption forecasting in smart grids is to </a:t>
            </a:r>
            <a:r>
              <a:rPr lang="en-US" b="1" dirty="0"/>
              <a:t>predict future electricity demand</a:t>
            </a:r>
            <a:r>
              <a:rPr lang="en-US" dirty="0"/>
              <a:t> so that utility companies can manage power </a:t>
            </a:r>
            <a:r>
              <a:rPr lang="en-US" dirty="0" smtClean="0"/>
              <a:t>generation </a:t>
            </a:r>
            <a:r>
              <a:rPr lang="en-US" dirty="0"/>
              <a:t>and distribution efficiently. The specific objectives include</a:t>
            </a:r>
            <a:r>
              <a:rPr lang="en-US" dirty="0" smtClean="0"/>
              <a:t>:</a:t>
            </a:r>
          </a:p>
          <a:p>
            <a:pPr marL="457200" indent="-457200" algn="l" fontAlgn="base">
              <a:buFont typeface="+mj-lt"/>
              <a:buAutoNum type="arabicPeriod"/>
            </a:pPr>
            <a:r>
              <a:rPr lang="en-US" dirty="0"/>
              <a:t>Prevent power outages and blackouts.</a:t>
            </a:r>
          </a:p>
          <a:p>
            <a:pPr marL="457200" indent="-457200" algn="l" fontAlgn="base">
              <a:buFont typeface="+mj-lt"/>
              <a:buAutoNum type="arabicPeriod"/>
            </a:pPr>
            <a:r>
              <a:rPr lang="en-US" dirty="0"/>
              <a:t>Optimize energy distribution across the smart grid to balance supply and demand</a:t>
            </a:r>
          </a:p>
          <a:p>
            <a:pPr marL="457200" indent="-457200" algn="l" fontAlgn="base">
              <a:buFont typeface="+mj-lt"/>
              <a:buAutoNum type="arabicPeriod"/>
            </a:pPr>
            <a:r>
              <a:rPr lang="en-US" dirty="0"/>
              <a:t>Reduce wastage of electricity by supplying only what’s needed.</a:t>
            </a:r>
          </a:p>
          <a:p>
            <a:pPr marL="457200" indent="-457200" algn="l" fontAlgn="base">
              <a:buFont typeface="+mj-lt"/>
              <a:buAutoNum type="arabicPeriod"/>
            </a:pPr>
            <a:r>
              <a:rPr lang="en-US" dirty="0"/>
              <a:t> Support real-time decision-making for effective energy management.</a:t>
            </a:r>
          </a:p>
          <a:p>
            <a:pPr marL="457200" indent="-457200" algn="l" fontAlgn="base">
              <a:buFont typeface="+mj-lt"/>
              <a:buAutoNum type="arabicPeriod"/>
            </a:pPr>
            <a:r>
              <a:rPr lang="en-US" dirty="0"/>
              <a:t>Improve operational efficiency of power plants and grids.</a:t>
            </a:r>
          </a:p>
          <a:p>
            <a:pPr algn="l"/>
            <a:endParaRPr lang="en-US" dirty="0"/>
          </a:p>
        </p:txBody>
      </p:sp>
      <p:sp>
        <p:nvSpPr>
          <p:cNvPr id="3" name="Title 2"/>
          <p:cNvSpPr>
            <a:spLocks noGrp="1"/>
          </p:cNvSpPr>
          <p:nvPr>
            <p:ph type="title"/>
          </p:nvPr>
        </p:nvSpPr>
        <p:spPr>
          <a:xfrm>
            <a:off x="2133600" y="762000"/>
            <a:ext cx="4648200" cy="1005840"/>
          </a:xfrm>
        </p:spPr>
        <p:txBody>
          <a:bodyPr>
            <a:normAutofit fontScale="90000"/>
          </a:bodyPr>
          <a:lstStyle/>
          <a:p>
            <a:r>
              <a:rPr lang="en-US" dirty="0" err="1" smtClean="0"/>
              <a:t>OBjective</a:t>
            </a:r>
            <a:r>
              <a:rPr lang="en-US" dirty="0" smtClean="0"/>
              <a:t> </a:t>
            </a:r>
            <a:r>
              <a:rPr lang="en-US" dirty="0"/>
              <a:t>of energy consumption </a:t>
            </a:r>
            <a:r>
              <a:rPr lang="en-US" dirty="0" smtClean="0"/>
              <a:t/>
            </a:r>
            <a:br>
              <a:rPr lang="en-US" dirty="0" smtClean="0"/>
            </a:br>
            <a:r>
              <a:rPr lang="en-US" dirty="0" smtClean="0"/>
              <a:t>forecasting </a:t>
            </a:r>
            <a:r>
              <a:rPr lang="en-US" dirty="0"/>
              <a:t>in smart grids</a:t>
            </a:r>
            <a:r>
              <a:rPr lang="en-US" b="0" dirty="0"/>
              <a:t/>
            </a:r>
            <a:br>
              <a:rPr lang="en-US" b="0" dirty="0"/>
            </a:br>
            <a:r>
              <a:rPr lang="en-US" dirty="0"/>
              <a:t/>
            </a:r>
            <a:br>
              <a:rPr lang="en-US" dirty="0"/>
            </a:br>
            <a:endParaRPr lang="en-US" dirty="0"/>
          </a:p>
        </p:txBody>
      </p:sp>
    </p:spTree>
    <p:extLst>
      <p:ext uri="{BB962C8B-B14F-4D97-AF65-F5344CB8AC3E}">
        <p14:creationId xmlns:p14="http://schemas.microsoft.com/office/powerpoint/2010/main" val="2094289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algn="l"/>
            <a:r>
              <a:rPr lang="en-US" dirty="0"/>
              <a:t>✅ </a:t>
            </a:r>
            <a:r>
              <a:rPr lang="en-US" b="1" dirty="0"/>
              <a:t>Source:</a:t>
            </a:r>
            <a:r>
              <a:rPr lang="en-US" dirty="0"/>
              <a:t> </a:t>
            </a:r>
            <a:r>
              <a:rPr lang="en-US" dirty="0" err="1"/>
              <a:t>Kaggle</a:t>
            </a:r>
            <a:r>
              <a:rPr lang="en-US" dirty="0"/>
              <a:t> (real-world dataset)</a:t>
            </a:r>
            <a:r>
              <a:rPr lang="en-US" dirty="0"/>
              <a:t/>
            </a:r>
            <a:br>
              <a:rPr lang="en-US" dirty="0"/>
            </a:br>
            <a:r>
              <a:rPr lang="en-US" dirty="0"/>
              <a:t>✅ </a:t>
            </a:r>
            <a:r>
              <a:rPr lang="en-US" b="1" dirty="0"/>
              <a:t>Size:</a:t>
            </a:r>
            <a:r>
              <a:rPr lang="en-US" dirty="0"/>
              <a:t> 50,000 smart-meter readings, 6 columns</a:t>
            </a:r>
            <a:r>
              <a:rPr lang="en-US" dirty="0"/>
              <a:t/>
            </a:r>
            <a:br>
              <a:rPr lang="en-US" dirty="0"/>
            </a:br>
            <a:r>
              <a:rPr lang="en-US" dirty="0"/>
              <a:t>✅ </a:t>
            </a:r>
            <a:r>
              <a:rPr lang="en-US" b="1" dirty="0"/>
              <a:t>Origin:</a:t>
            </a:r>
            <a:r>
              <a:rPr lang="en-US" dirty="0"/>
              <a:t> Actual household smart-meter measurements</a:t>
            </a:r>
            <a:r>
              <a:rPr lang="en-US" dirty="0"/>
              <a:t/>
            </a:r>
            <a:br>
              <a:rPr lang="en-US" dirty="0"/>
            </a:br>
            <a:r>
              <a:rPr lang="en-US" dirty="0"/>
              <a:t>✅ </a:t>
            </a:r>
            <a:r>
              <a:rPr lang="en-US" b="1" dirty="0"/>
              <a:t>Format:</a:t>
            </a:r>
            <a:r>
              <a:rPr lang="en-US" dirty="0"/>
              <a:t> </a:t>
            </a:r>
            <a:r>
              <a:rPr lang="en-US" dirty="0" err="1"/>
              <a:t>Timestamped</a:t>
            </a:r>
            <a:r>
              <a:rPr lang="en-US" dirty="0"/>
              <a:t> consumption data (utility-style)</a:t>
            </a:r>
            <a:r>
              <a:rPr lang="en-US" dirty="0"/>
              <a:t/>
            </a:r>
            <a:br>
              <a:rPr lang="en-US" dirty="0"/>
            </a:br>
            <a:r>
              <a:rPr lang="en-US" dirty="0"/>
              <a:t>✅ </a:t>
            </a:r>
            <a:r>
              <a:rPr lang="en-US" b="1" dirty="0"/>
              <a:t>Nature:</a:t>
            </a:r>
            <a:r>
              <a:rPr lang="en-US" dirty="0"/>
              <a:t> Historical but realistic, mirrors smart-grid behavior</a:t>
            </a:r>
            <a:r>
              <a:rPr lang="en-US" dirty="0"/>
              <a:t/>
            </a:r>
            <a:br>
              <a:rPr lang="en-US" dirty="0"/>
            </a:br>
            <a:r>
              <a:rPr lang="en-US" dirty="0"/>
              <a:t>✅ </a:t>
            </a:r>
            <a:r>
              <a:rPr lang="en-US" b="1" dirty="0"/>
              <a:t>Trends captured:</a:t>
            </a:r>
            <a:r>
              <a:rPr lang="en-US" dirty="0"/>
              <a:t> Daily peaks, weekday/weekend differences, seasonal variations</a:t>
            </a:r>
            <a:r>
              <a:rPr lang="en-US" dirty="0"/>
              <a:t/>
            </a:r>
            <a:br>
              <a:rPr lang="en-US" dirty="0"/>
            </a:br>
            <a:r>
              <a:rPr lang="en-US" dirty="0"/>
              <a:t>✅ </a:t>
            </a:r>
            <a:r>
              <a:rPr lang="en-US" b="1" dirty="0"/>
              <a:t>Suitability:</a:t>
            </a:r>
            <a:r>
              <a:rPr lang="en-US" dirty="0"/>
              <a:t> Ideal for time-series analysis, load forecasting, and ML modeling</a:t>
            </a:r>
            <a:r>
              <a:rPr lang="en-US" dirty="0"/>
              <a:t/>
            </a:r>
            <a:br>
              <a:rPr lang="en-US" dirty="0"/>
            </a:br>
            <a:r>
              <a:rPr lang="en-US" dirty="0"/>
              <a:t>✅ </a:t>
            </a:r>
            <a:r>
              <a:rPr lang="en-US" b="1" dirty="0"/>
              <a:t>Benefit:</a:t>
            </a:r>
            <a:r>
              <a:rPr lang="en-US" dirty="0"/>
              <a:t> Provides reliable testing without live smart-meter access</a:t>
            </a:r>
            <a:r>
              <a:rPr lang="en-US" dirty="0"/>
              <a:t/>
            </a:r>
            <a:br>
              <a:rPr lang="en-US" dirty="0"/>
            </a:br>
            <a:endParaRPr lang="en-US" dirty="0"/>
          </a:p>
        </p:txBody>
      </p:sp>
      <p:sp>
        <p:nvSpPr>
          <p:cNvPr id="3" name="Title 2"/>
          <p:cNvSpPr>
            <a:spLocks noGrp="1"/>
          </p:cNvSpPr>
          <p:nvPr>
            <p:ph type="title"/>
          </p:nvPr>
        </p:nvSpPr>
        <p:spPr/>
        <p:txBody>
          <a:bodyPr/>
          <a:lstStyle/>
          <a:p>
            <a:r>
              <a:rPr lang="en-US" dirty="0" smtClean="0"/>
              <a:t>DATASET SOURCE</a:t>
            </a:r>
            <a:endParaRPr lang="en-US" dirty="0"/>
          </a:p>
        </p:txBody>
      </p:sp>
    </p:spTree>
    <p:extLst>
      <p:ext uri="{BB962C8B-B14F-4D97-AF65-F5344CB8AC3E}">
        <p14:creationId xmlns:p14="http://schemas.microsoft.com/office/powerpoint/2010/main" val="2020426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r>
              <a:rPr lang="en-US" dirty="0"/>
              <a:t>The following tools were installed to support data processing, </a:t>
            </a:r>
            <a:r>
              <a:rPr lang="en-US" dirty="0" err="1"/>
              <a:t>modelling</a:t>
            </a:r>
            <a:r>
              <a:rPr lang="en-US" dirty="0"/>
              <a:t>, and the project:</a:t>
            </a:r>
            <a:endParaRPr lang="en-US" dirty="0"/>
          </a:p>
          <a:p>
            <a:pPr fontAlgn="base"/>
            <a:r>
              <a:rPr lang="en-US" i="1" dirty="0"/>
              <a:t>‌</a:t>
            </a:r>
            <a:r>
              <a:rPr lang="en-US" i="1" dirty="0" err="1"/>
              <a:t>TensorFlow</a:t>
            </a:r>
            <a:r>
              <a:rPr lang="en-US" dirty="0"/>
              <a:t> – used to build and train the LSTM model for energy consumption forecasting.</a:t>
            </a:r>
          </a:p>
          <a:p>
            <a:pPr fontAlgn="base"/>
            <a:r>
              <a:rPr lang="en-US" i="1" dirty="0" err="1"/>
              <a:t>PyTorch</a:t>
            </a:r>
            <a:r>
              <a:rPr lang="en-US" i="1" dirty="0"/>
              <a:t> </a:t>
            </a:r>
            <a:r>
              <a:rPr lang="en-US" dirty="0"/>
              <a:t>– used for experimentation and comparison of deep learning models. </a:t>
            </a:r>
          </a:p>
          <a:p>
            <a:pPr fontAlgn="base"/>
            <a:r>
              <a:rPr lang="en-US" i="1" dirty="0"/>
              <a:t>‌</a:t>
            </a:r>
            <a:r>
              <a:rPr lang="en-US" i="1" dirty="0" err="1"/>
              <a:t>PySpark</a:t>
            </a:r>
            <a:r>
              <a:rPr lang="en-US" dirty="0"/>
              <a:t> – used for large-scale data processing and streaming within the smart grid framework.</a:t>
            </a:r>
          </a:p>
          <a:p>
            <a:pPr fontAlgn="base"/>
            <a:r>
              <a:rPr lang="en-US" dirty="0"/>
              <a:t>‌</a:t>
            </a:r>
            <a:r>
              <a:rPr lang="en-US" i="1" dirty="0" err="1"/>
              <a:t>NumPy</a:t>
            </a:r>
            <a:r>
              <a:rPr lang="en-US" i="1" dirty="0"/>
              <a:t> </a:t>
            </a:r>
            <a:r>
              <a:rPr lang="en-US" dirty="0"/>
              <a:t>– used for numerical computations and data preprocessing.</a:t>
            </a:r>
          </a:p>
          <a:p>
            <a:pPr fontAlgn="base"/>
            <a:r>
              <a:rPr lang="en-US" i="1" dirty="0" err="1"/>
              <a:t>Matplotlib</a:t>
            </a:r>
            <a:r>
              <a:rPr lang="en-US" dirty="0"/>
              <a:t> – used to visualize energy consumption trends and model results</a:t>
            </a:r>
            <a:r>
              <a:rPr lang="en-US" dirty="0" smtClean="0"/>
              <a:t>.</a:t>
            </a:r>
          </a:p>
          <a:p>
            <a:pPr fontAlgn="base"/>
            <a:endParaRPr lang="en-US" dirty="0"/>
          </a:p>
          <a:p>
            <a:r>
              <a:rPr lang="en-US" dirty="0"/>
              <a:t>These tools together enabled efficient data handling, model training, and result analysis for smart grid energy </a:t>
            </a:r>
            <a:r>
              <a:rPr lang="en-US" dirty="0" smtClean="0"/>
              <a:t>forecasting.</a:t>
            </a:r>
            <a:endParaRPr lang="en-US" dirty="0"/>
          </a:p>
        </p:txBody>
      </p:sp>
      <p:sp>
        <p:nvSpPr>
          <p:cNvPr id="3" name="Title 2"/>
          <p:cNvSpPr>
            <a:spLocks noGrp="1"/>
          </p:cNvSpPr>
          <p:nvPr>
            <p:ph type="title"/>
          </p:nvPr>
        </p:nvSpPr>
        <p:spPr>
          <a:xfrm>
            <a:off x="2590800" y="914400"/>
            <a:ext cx="4114800" cy="701040"/>
          </a:xfrm>
        </p:spPr>
        <p:txBody>
          <a:bodyPr/>
          <a:lstStyle/>
          <a:p>
            <a:r>
              <a:rPr lang="en-US" dirty="0"/>
              <a:t>Tools and Framework Usage</a:t>
            </a:r>
          </a:p>
        </p:txBody>
      </p:sp>
    </p:spTree>
    <p:extLst>
      <p:ext uri="{BB962C8B-B14F-4D97-AF65-F5344CB8AC3E}">
        <p14:creationId xmlns:p14="http://schemas.microsoft.com/office/powerpoint/2010/main" val="3787998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dirty="0"/>
              <a:t>The system architecture explains how all project components work together to </a:t>
            </a:r>
            <a:r>
              <a:rPr lang="en-US" b="1" dirty="0"/>
              <a:t>collect energy data, process it in real time, predict future consumption, and display the results</a:t>
            </a:r>
            <a:r>
              <a:rPr lang="en-US" dirty="0"/>
              <a:t>. It uses a combination of </a:t>
            </a:r>
            <a:r>
              <a:rPr lang="en-US" b="1" dirty="0"/>
              <a:t>data streaming, big data processing, and deep learning</a:t>
            </a:r>
            <a:r>
              <a:rPr lang="en-US" dirty="0"/>
              <a:t> to form a complete </a:t>
            </a:r>
            <a:r>
              <a:rPr lang="en-US" b="1" dirty="0"/>
              <a:t>end-to-end smart-grid forecasting system</a:t>
            </a:r>
            <a:r>
              <a:rPr lang="en-US" dirty="0"/>
              <a:t>.</a:t>
            </a:r>
            <a:endParaRPr lang="en-US" dirty="0"/>
          </a:p>
        </p:txBody>
      </p:sp>
      <p:sp>
        <p:nvSpPr>
          <p:cNvPr id="3" name="Title 2"/>
          <p:cNvSpPr>
            <a:spLocks noGrp="1"/>
          </p:cNvSpPr>
          <p:nvPr>
            <p:ph type="title"/>
          </p:nvPr>
        </p:nvSpPr>
        <p:spPr/>
        <p:txBody>
          <a:bodyPr/>
          <a:lstStyle/>
          <a:p>
            <a:r>
              <a:rPr lang="en-US" dirty="0"/>
              <a:t>System Architecture</a:t>
            </a:r>
          </a:p>
        </p:txBody>
      </p:sp>
    </p:spTree>
    <p:extLst>
      <p:ext uri="{BB962C8B-B14F-4D97-AF65-F5344CB8AC3E}">
        <p14:creationId xmlns:p14="http://schemas.microsoft.com/office/powerpoint/2010/main" val="3414273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lnSpcReduction="10000"/>
          </a:bodyPr>
          <a:lstStyle/>
          <a:p>
            <a:r>
              <a:rPr lang="en-US" dirty="0"/>
              <a:t>The workflow follows these stages:</a:t>
            </a:r>
          </a:p>
          <a:p>
            <a:pPr marL="342900" indent="-342900">
              <a:buFont typeface="Arial" pitchFamily="34" charset="0"/>
              <a:buChar char="•"/>
            </a:pPr>
            <a:r>
              <a:rPr lang="en-US" b="1" dirty="0"/>
              <a:t>Smart Meter Dataset (</a:t>
            </a:r>
            <a:r>
              <a:rPr lang="en-US" b="1" dirty="0" err="1"/>
              <a:t>Kaggle</a:t>
            </a:r>
            <a:r>
              <a:rPr lang="en-US" b="1" dirty="0"/>
              <a:t>)</a:t>
            </a:r>
            <a:r>
              <a:rPr lang="en-US" dirty="0"/>
              <a:t> – The source of continuous energy consumption data.</a:t>
            </a:r>
          </a:p>
          <a:p>
            <a:pPr marL="342900" indent="-342900">
              <a:buFont typeface="Arial" pitchFamily="34" charset="0"/>
              <a:buChar char="•"/>
            </a:pPr>
            <a:r>
              <a:rPr lang="en-US" b="1" dirty="0"/>
              <a:t>Data Ingestion (Spark Streaming)</a:t>
            </a:r>
            <a:r>
              <a:rPr lang="en-US" dirty="0"/>
              <a:t> – The data flows into the system through </a:t>
            </a:r>
            <a:r>
              <a:rPr lang="en-US" b="1" dirty="0"/>
              <a:t>Apache Spark Streaming</a:t>
            </a:r>
            <a:r>
              <a:rPr lang="en-US" dirty="0"/>
              <a:t>.</a:t>
            </a:r>
          </a:p>
          <a:p>
            <a:pPr marL="342900" indent="-342900">
              <a:buFont typeface="Arial" pitchFamily="34" charset="0"/>
              <a:buChar char="•"/>
            </a:pPr>
            <a:r>
              <a:rPr lang="en-US" b="1" dirty="0"/>
              <a:t>Preprocessing &amp; Feature Engineering</a:t>
            </a:r>
            <a:r>
              <a:rPr lang="en-US" dirty="0"/>
              <a:t> – Spark </a:t>
            </a:r>
            <a:r>
              <a:rPr lang="en-US" b="1" dirty="0"/>
              <a:t>cleans and organizes</a:t>
            </a:r>
            <a:r>
              <a:rPr lang="en-US" dirty="0"/>
              <a:t> the incoming data.</a:t>
            </a:r>
          </a:p>
          <a:p>
            <a:pPr marL="342900" indent="-342900">
              <a:buFont typeface="Arial" pitchFamily="34" charset="0"/>
              <a:buChar char="•"/>
            </a:pPr>
            <a:r>
              <a:rPr lang="en-US" b="1" dirty="0"/>
              <a:t>Forecasting Models (LSTM &amp; ARIMA)</a:t>
            </a:r>
            <a:r>
              <a:rPr lang="en-US" dirty="0"/>
              <a:t> – The cleaned data is fed into </a:t>
            </a:r>
            <a:r>
              <a:rPr lang="en-US" b="1" dirty="0"/>
              <a:t>machine learning models (LSTM and ARIMA)</a:t>
            </a:r>
            <a:r>
              <a:rPr lang="en-US" dirty="0"/>
              <a:t> to forecast future energy usage.</a:t>
            </a:r>
          </a:p>
          <a:p>
            <a:pPr marL="342900" indent="-342900">
              <a:buFont typeface="Arial" pitchFamily="34" charset="0"/>
              <a:buChar char="•"/>
            </a:pPr>
            <a:r>
              <a:rPr lang="en-US" b="1" dirty="0"/>
              <a:t>Visualization Dashboard</a:t>
            </a:r>
            <a:r>
              <a:rPr lang="en-US" dirty="0"/>
              <a:t> – Predictions and data are </a:t>
            </a:r>
            <a:r>
              <a:rPr lang="en-US" b="1" dirty="0"/>
              <a:t>displayed in real time</a:t>
            </a:r>
            <a:r>
              <a:rPr lang="en-US" dirty="0"/>
              <a:t> for monitoring.</a:t>
            </a:r>
          </a:p>
          <a:p>
            <a:endParaRPr lang="en-US" dirty="0"/>
          </a:p>
        </p:txBody>
      </p:sp>
      <p:sp>
        <p:nvSpPr>
          <p:cNvPr id="3" name="Title 2"/>
          <p:cNvSpPr>
            <a:spLocks noGrp="1"/>
          </p:cNvSpPr>
          <p:nvPr>
            <p:ph type="title"/>
          </p:nvPr>
        </p:nvSpPr>
        <p:spPr>
          <a:xfrm>
            <a:off x="2362200" y="838200"/>
            <a:ext cx="4114800" cy="701040"/>
          </a:xfrm>
        </p:spPr>
        <p:txBody>
          <a:bodyPr/>
          <a:lstStyle/>
          <a:p>
            <a:r>
              <a:rPr lang="en-US" dirty="0" smtClean="0"/>
              <a:t>system flow</a:t>
            </a:r>
            <a:endParaRPr lang="en-US" dirty="0"/>
          </a:p>
        </p:txBody>
      </p:sp>
    </p:spTree>
    <p:extLst>
      <p:ext uri="{BB962C8B-B14F-4D97-AF65-F5344CB8AC3E}">
        <p14:creationId xmlns:p14="http://schemas.microsoft.com/office/powerpoint/2010/main" val="315943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40000" lnSpcReduction="20000"/>
          </a:bodyPr>
          <a:lstStyle/>
          <a:p>
            <a:endParaRPr lang="en-US" dirty="0"/>
          </a:p>
          <a:p>
            <a:r>
              <a:rPr lang="en-US" sz="4000" dirty="0"/>
              <a:t>The following regression metrics were used to evaluate model performance:</a:t>
            </a:r>
            <a:endParaRPr lang="en-US" sz="4000" dirty="0"/>
          </a:p>
          <a:p>
            <a:pPr fontAlgn="base"/>
            <a:r>
              <a:rPr lang="en-US" sz="4000" i="1" dirty="0"/>
              <a:t>Mean Absolute Error (MAE):</a:t>
            </a:r>
            <a:r>
              <a:rPr lang="en-US" sz="4000" dirty="0"/>
              <a:t> Measures the average absolute difference between predicted and actual consumption. Lower MAE indicates stability, even when data fluctuates.</a:t>
            </a:r>
          </a:p>
          <a:p>
            <a:pPr fontAlgn="base"/>
            <a:r>
              <a:rPr lang="en-US" sz="4000" i="1" dirty="0"/>
              <a:t>Mean Squared Error (MSE): </a:t>
            </a:r>
            <a:r>
              <a:rPr lang="en-US" sz="4000" dirty="0"/>
              <a:t>Measures the average squared difference between predicted and actual energy values. Lower values indicate better accuracy.</a:t>
            </a:r>
          </a:p>
          <a:p>
            <a:pPr fontAlgn="base"/>
            <a:r>
              <a:rPr lang="en-US" sz="4000" dirty="0"/>
              <a:t>Loss(Training Objective): The loss function optimized during training, closely related to MSE</a:t>
            </a:r>
            <a:r>
              <a:rPr lang="en-US" sz="2900" dirty="0"/>
              <a:t>.</a:t>
            </a:r>
          </a:p>
          <a:p>
            <a:r>
              <a:rPr lang="en-US" sz="2900" dirty="0"/>
              <a:t/>
            </a:r>
            <a:br>
              <a:rPr lang="en-US" sz="2900" dirty="0"/>
            </a:br>
            <a:r>
              <a:rPr lang="en-US" dirty="0" smtClean="0"/>
              <a:t> </a:t>
            </a:r>
            <a:r>
              <a:rPr lang="en-US" dirty="0"/>
              <a:t> </a:t>
            </a:r>
            <a:r>
              <a:rPr lang="en-US" b="1" dirty="0"/>
              <a:t> </a:t>
            </a:r>
            <a:r>
              <a:rPr lang="en-US" sz="3300" b="1" dirty="0"/>
              <a:t>Training Results</a:t>
            </a:r>
            <a:endParaRPr lang="en-US" sz="3300" b="1" dirty="0"/>
          </a:p>
          <a:p>
            <a:r>
              <a:rPr lang="en-US" sz="3300" dirty="0"/>
              <a:t>The LSTM model was trained for up to </a:t>
            </a:r>
            <a:r>
              <a:rPr lang="en-US" sz="3300" b="1" dirty="0"/>
              <a:t>50 epochs</a:t>
            </a:r>
            <a:r>
              <a:rPr lang="en-US" sz="3300" dirty="0"/>
              <a:t>, with early stopping behavior observed as validation performance stabilized.</a:t>
            </a:r>
            <a:endParaRPr lang="en-US" sz="3300" dirty="0"/>
          </a:p>
          <a:p>
            <a:r>
              <a:rPr lang="en-US" sz="3300" dirty="0"/>
              <a:t>Best Observed Validation Performance</a:t>
            </a:r>
            <a:endParaRPr lang="en-US" sz="3300" dirty="0"/>
          </a:p>
          <a:p>
            <a:pPr fontAlgn="base"/>
            <a:r>
              <a:rPr lang="en-US" sz="3300" dirty="0"/>
              <a:t>Validation Loss: ≈ 0.434</a:t>
            </a:r>
          </a:p>
          <a:p>
            <a:pPr fontAlgn="base"/>
            <a:r>
              <a:rPr lang="en-US" sz="3300" dirty="0"/>
              <a:t>Validation MAE: ≈  0.813</a:t>
            </a:r>
          </a:p>
          <a:p>
            <a:pPr fontAlgn="base"/>
            <a:r>
              <a:rPr lang="en-US" sz="3300" dirty="0"/>
              <a:t>Validation MSE: ≈  1.000</a:t>
            </a:r>
          </a:p>
          <a:p>
            <a:r>
              <a:rPr lang="en-US" sz="3300" dirty="0"/>
              <a:t>These results indicate that the model achieved consistent prediction accuracy on unseen validation data.</a:t>
            </a:r>
            <a:endParaRPr lang="en-US" sz="3300" dirty="0"/>
          </a:p>
          <a:p>
            <a:r>
              <a:rPr lang="en-US" sz="3300" dirty="0"/>
              <a:t/>
            </a:r>
            <a:br>
              <a:rPr lang="en-US" sz="3300" dirty="0"/>
            </a:br>
            <a:endParaRPr lang="en-US" sz="3300" dirty="0"/>
          </a:p>
        </p:txBody>
      </p:sp>
      <p:sp>
        <p:nvSpPr>
          <p:cNvPr id="3" name="Title 2"/>
          <p:cNvSpPr>
            <a:spLocks noGrp="1"/>
          </p:cNvSpPr>
          <p:nvPr>
            <p:ph type="title"/>
          </p:nvPr>
        </p:nvSpPr>
        <p:spPr/>
        <p:txBody>
          <a:bodyPr/>
          <a:lstStyle/>
          <a:p>
            <a:r>
              <a:rPr lang="en-US" dirty="0" smtClean="0"/>
              <a:t>EVALATION METRICS</a:t>
            </a:r>
            <a:endParaRPr lang="en-US" dirty="0"/>
          </a:p>
        </p:txBody>
      </p:sp>
    </p:spTree>
    <p:extLst>
      <p:ext uri="{BB962C8B-B14F-4D97-AF65-F5344CB8AC3E}">
        <p14:creationId xmlns:p14="http://schemas.microsoft.com/office/powerpoint/2010/main" val="2331538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lnSpcReduction="10000"/>
          </a:bodyPr>
          <a:lstStyle/>
          <a:p>
            <a:r>
              <a:rPr lang="en-US" dirty="0" smtClean="0"/>
              <a:t>The </a:t>
            </a:r>
            <a:r>
              <a:rPr lang="en-US" dirty="0"/>
              <a:t>streamed data is transformed into supervised learning format using a sliding window approach.</a:t>
            </a:r>
            <a:endParaRPr lang="en-US" dirty="0"/>
          </a:p>
          <a:p>
            <a:pPr fontAlgn="base"/>
            <a:r>
              <a:rPr lang="en-US" dirty="0"/>
              <a:t>24 time steps per input sequence</a:t>
            </a:r>
          </a:p>
          <a:p>
            <a:pPr fontAlgn="base"/>
            <a:r>
              <a:rPr lang="en-US" dirty="0"/>
              <a:t>10 features per time step.</a:t>
            </a:r>
          </a:p>
          <a:p>
            <a:r>
              <a:rPr lang="en-US" dirty="0"/>
              <a:t>This layer produces structured input suitable for time-series forecasting models.</a:t>
            </a:r>
            <a:endParaRPr lang="en-US" dirty="0"/>
          </a:p>
          <a:p>
            <a:r>
              <a:rPr lang="en-US" dirty="0"/>
              <a:t>Train-Test Split:</a:t>
            </a:r>
            <a:endParaRPr lang="en-US" dirty="0"/>
          </a:p>
          <a:p>
            <a:r>
              <a:rPr lang="en-US" dirty="0"/>
              <a:t>After structuring the data, it is divided into training and testing sets to evaluate model performance. Typically, 80% of the data is used for training the model, while the remaining 20% is reserved for testing. This ensures the model learns patterns from historical data and can generalize to unseen energy consumption sequences.</a:t>
            </a:r>
            <a:endParaRPr lang="en-US" dirty="0"/>
          </a:p>
          <a:p>
            <a:r>
              <a:rPr lang="en-US" dirty="0"/>
              <a:t/>
            </a:r>
            <a:br>
              <a:rPr lang="en-US" dirty="0"/>
            </a:br>
            <a:endParaRPr lang="en-US" dirty="0"/>
          </a:p>
        </p:txBody>
      </p:sp>
      <p:sp>
        <p:nvSpPr>
          <p:cNvPr id="3" name="Title 2"/>
          <p:cNvSpPr>
            <a:spLocks noGrp="1"/>
          </p:cNvSpPr>
          <p:nvPr>
            <p:ph type="title"/>
          </p:nvPr>
        </p:nvSpPr>
        <p:spPr/>
        <p:txBody>
          <a:bodyPr/>
          <a:lstStyle/>
          <a:p>
            <a:r>
              <a:rPr lang="en-US" dirty="0" smtClean="0"/>
              <a:t>PREPROCESSING AND FEATURE HANDLING</a:t>
            </a:r>
            <a:endParaRPr lang="en-US" dirty="0"/>
          </a:p>
        </p:txBody>
      </p:sp>
    </p:spTree>
    <p:extLst>
      <p:ext uri="{BB962C8B-B14F-4D97-AF65-F5344CB8AC3E}">
        <p14:creationId xmlns:p14="http://schemas.microsoft.com/office/powerpoint/2010/main" val="880656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dirty="0"/>
              <a:t>This project shows how real-time data streaming and machine-learning models can work together to predict energy consumption more accurately. Using Spark Streaming to process fast incoming data and models like LSTM and ARIMA to make forecasts, the system gives a clearer picture of energy usage as it changes</a:t>
            </a:r>
            <a:r>
              <a:rPr lang="en-US" dirty="0" smtClean="0"/>
              <a:t>.</a:t>
            </a:r>
          </a:p>
          <a:p>
            <a:r>
              <a:rPr lang="en-US" dirty="0"/>
              <a:t>However, the system has several limitations. One major challenge was obtaining appropriate training data, and the available feature set is somewhat limited. As a result, certain human behaviors and rare events are not fully captured by the models.</a:t>
            </a:r>
            <a:endParaRPr lang="en-US" dirty="0"/>
          </a:p>
        </p:txBody>
      </p:sp>
      <p:sp>
        <p:nvSpPr>
          <p:cNvPr id="3" name="Title 2"/>
          <p:cNvSpPr>
            <a:spLocks noGrp="1"/>
          </p:cNvSpPr>
          <p:nvPr>
            <p:ph type="title"/>
          </p:nvPr>
        </p:nvSpPr>
        <p:spPr/>
        <p:txBody>
          <a:bodyPr/>
          <a:lstStyle/>
          <a:p>
            <a:r>
              <a:rPr lang="en-US" dirty="0" smtClean="0"/>
              <a:t>CONCLUSION</a:t>
            </a:r>
            <a:endParaRPr lang="en-US" dirty="0"/>
          </a:p>
        </p:txBody>
      </p:sp>
    </p:spTree>
    <p:extLst>
      <p:ext uri="{BB962C8B-B14F-4D97-AF65-F5344CB8AC3E}">
        <p14:creationId xmlns:p14="http://schemas.microsoft.com/office/powerpoint/2010/main" val="745838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ckTie">
  <a:themeElements>
    <a:clrScheme name="BlackTie">
      <a:dk1>
        <a:srgbClr val="000000"/>
      </a:dk1>
      <a:lt1>
        <a:srgbClr val="FFFFFF"/>
      </a:lt1>
      <a:dk2>
        <a:srgbClr val="46464A"/>
      </a:dk2>
      <a:lt2>
        <a:srgbClr val="E3DCCF"/>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Black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lackTie">
      <a:fillStyleLst>
        <a:solidFill>
          <a:schemeClr val="phClr"/>
        </a:solidFill>
        <a:gradFill rotWithShape="1">
          <a:gsLst>
            <a:gs pos="0">
              <a:schemeClr val="phClr">
                <a:tint val="45000"/>
                <a:satMod val="220000"/>
              </a:schemeClr>
            </a:gs>
            <a:gs pos="30000">
              <a:schemeClr val="phClr">
                <a:tint val="61000"/>
                <a:satMod val="220000"/>
              </a:schemeClr>
            </a:gs>
            <a:gs pos="45000">
              <a:schemeClr val="phClr">
                <a:tint val="66000"/>
                <a:satMod val="240000"/>
              </a:schemeClr>
            </a:gs>
            <a:gs pos="55000">
              <a:schemeClr val="phClr">
                <a:tint val="66000"/>
                <a:satMod val="220000"/>
              </a:schemeClr>
            </a:gs>
            <a:gs pos="73000">
              <a:schemeClr val="phClr">
                <a:tint val="61000"/>
                <a:satMod val="220000"/>
              </a:schemeClr>
            </a:gs>
            <a:gs pos="100000">
              <a:schemeClr val="phClr">
                <a:tint val="45000"/>
                <a:satMod val="220000"/>
              </a:schemeClr>
            </a:gs>
          </a:gsLst>
          <a:lin ang="950000" scaled="1"/>
        </a:gradFill>
        <a:gradFill rotWithShape="1">
          <a:gsLst>
            <a:gs pos="0">
              <a:schemeClr val="phClr">
                <a:shade val="63000"/>
                <a:satMod val="110000"/>
              </a:schemeClr>
            </a:gs>
            <a:gs pos="30000">
              <a:schemeClr val="phClr">
                <a:shade val="90000"/>
                <a:satMod val="120000"/>
              </a:schemeClr>
            </a:gs>
            <a:gs pos="45000">
              <a:schemeClr val="phClr">
                <a:shade val="100000"/>
                <a:satMod val="128000"/>
              </a:schemeClr>
            </a:gs>
            <a:gs pos="55000">
              <a:schemeClr val="phClr">
                <a:shade val="100000"/>
                <a:satMod val="128000"/>
              </a:schemeClr>
            </a:gs>
            <a:gs pos="73000">
              <a:schemeClr val="phClr">
                <a:shade val="90000"/>
                <a:satMod val="120000"/>
              </a:schemeClr>
            </a:gs>
            <a:gs pos="100000">
              <a:schemeClr val="phClr">
                <a:shade val="63000"/>
                <a:satMod val="110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7150" dist="38100" dir="5400000" algn="br" rotWithShape="0">
              <a:srgbClr val="000000">
                <a:alpha val="57000"/>
              </a:srgbClr>
            </a:outerShdw>
          </a:effectLst>
          <a:scene3d>
            <a:camera prst="orthographicFront">
              <a:rot lat="0" lon="0" rev="0"/>
            </a:camera>
            <a:lightRig rig="twoPt" dir="t">
              <a:rot lat="0" lon="0" rev="1800000"/>
            </a:lightRig>
          </a:scene3d>
          <a:sp3d>
            <a:bevelT w="44450" h="31750" prst="coolSlant"/>
          </a:sp3d>
        </a:effectStyle>
      </a:effectStyleLst>
      <a:bgFillStyleLst>
        <a:solidFill>
          <a:schemeClr val="phClr"/>
        </a:solidFill>
        <a:blipFill rotWithShape="1">
          <a:blip xmlns:r="http://schemas.openxmlformats.org/officeDocument/2006/relationships" r:embed="rId1">
            <a:duotone>
              <a:schemeClr val="phClr">
                <a:tint val="95000"/>
              </a:schemeClr>
              <a:schemeClr val="phClr">
                <a:shade val="20000"/>
              </a:schemeClr>
            </a:duotone>
          </a:blip>
          <a:stretch/>
        </a:blipFill>
        <a:gradFill rotWithShape="1">
          <a:gsLst>
            <a:gs pos="0">
              <a:schemeClr val="phClr">
                <a:tint val="40000"/>
                <a:satMod val="350000"/>
              </a:schemeClr>
            </a:gs>
            <a:gs pos="40000">
              <a:schemeClr val="phClr">
                <a:tint val="45000"/>
                <a:shade val="99000"/>
                <a:satMod val="350000"/>
              </a:schemeClr>
            </a:gs>
            <a:gs pos="100000">
              <a:schemeClr val="phClr">
                <a:shade val="30000"/>
                <a:satMod val="255000"/>
              </a:schemeClr>
            </a:gs>
          </a:gsLst>
          <a:path path="circle">
            <a:fillToRect l="50000" t="-80000" r="50000" b="18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87</TotalTime>
  <Words>523</Words>
  <Application>Microsoft Office PowerPoint</Application>
  <PresentationFormat>On-screen Show (4:3)</PresentationFormat>
  <Paragraphs>78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BlackTie</vt:lpstr>
      <vt:lpstr>DTS 301 PROJECT</vt:lpstr>
      <vt:lpstr>GROUP MEMBERS</vt:lpstr>
      <vt:lpstr>INTRODUCTION</vt:lpstr>
      <vt:lpstr>PROBLEM STATEMENT</vt:lpstr>
      <vt:lpstr>OBjective of energy consumption  forecasting in smart grids  </vt:lpstr>
      <vt:lpstr>DATASET SOURCE</vt:lpstr>
      <vt:lpstr>Tools and Framework Usage</vt:lpstr>
      <vt:lpstr>System Architecture</vt:lpstr>
      <vt:lpstr>system flow</vt:lpstr>
      <vt:lpstr>EVALATION METRICS</vt:lpstr>
      <vt:lpstr>PREPROCESSING AND FEATURE HANDLING</vt:lpstr>
      <vt:lpstr>CONCLUSION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 301 PROJECT</dc:title>
  <dc:creator>Constance Meshack-Hart</dc:creator>
  <cp:lastModifiedBy>Constance Meshack-Hart</cp:lastModifiedBy>
  <cp:revision>7</cp:revision>
  <dcterms:created xsi:type="dcterms:W3CDTF">2025-12-11T00:13:40Z</dcterms:created>
  <dcterms:modified xsi:type="dcterms:W3CDTF">2025-12-11T01:41:00Z</dcterms:modified>
</cp:coreProperties>
</file>